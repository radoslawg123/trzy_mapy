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d0db7da9a44b3a" /><Relationship Type="http://schemas.openxmlformats.org/officeDocument/2006/relationships/extended-properties" Target="/docProps/app.xml" Id="R32874502856d4821" /><Relationship Type="http://schemas.openxmlformats.org/officeDocument/2006/relationships/officeDocument" Target="/ppt/presentation.xml" Id="R1877f837438f41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5bb0794edf4544"/>
  </p:sldMasterIdLst>
  <p:notesMasterIdLst>
    <p:notesMasterId xmlns:r="http://schemas.openxmlformats.org/officeDocument/2006/relationships" r:id="Rc6a6d4fe4c80495a"/>
  </p:notesMasterIdLst>
  <p:sldIdLst>
    <p:sldId xmlns:r="http://schemas.openxmlformats.org/officeDocument/2006/relationships" id="256" r:id="R3f48e57f8bbb4a69"/>
    <p:sldId xmlns:r="http://schemas.openxmlformats.org/officeDocument/2006/relationships" id="257" r:id="Rcf32ced901db4e49"/>
    <p:sldId xmlns:r="http://schemas.openxmlformats.org/officeDocument/2006/relationships" id="258" r:id="R307da8bc726d4128"/>
    <p:sldId xmlns:r="http://schemas.openxmlformats.org/officeDocument/2006/relationships" id="259" r:id="R9d2664bc7d144423"/>
    <p:sldId xmlns:r="http://schemas.openxmlformats.org/officeDocument/2006/relationships" id="260" r:id="Rcfa53a625065478a"/>
    <p:sldId xmlns:r="http://schemas.openxmlformats.org/officeDocument/2006/relationships" id="261" r:id="Rc020a8126984445a"/>
    <p:sldId xmlns:r="http://schemas.openxmlformats.org/officeDocument/2006/relationships" id="262" r:id="Rdeec335064124113"/>
    <p:sldId xmlns:r="http://schemas.openxmlformats.org/officeDocument/2006/relationships" id="263" r:id="Rb93f9a5df6474f6c"/>
    <p:sldId xmlns:r="http://schemas.openxmlformats.org/officeDocument/2006/relationships" id="264" r:id="R68be081656e24e5c"/>
    <p:sldId xmlns:r="http://schemas.openxmlformats.org/officeDocument/2006/relationships" id="265" r:id="Rb6ab6b8501d1425a"/>
    <p:sldId xmlns:r="http://schemas.openxmlformats.org/officeDocument/2006/relationships" id="266" r:id="R876d292a1ddb4b59"/>
    <p:sldId xmlns:r="http://schemas.openxmlformats.org/officeDocument/2006/relationships" id="267" r:id="R39ef0606194e4563"/>
    <p:sldId xmlns:r="http://schemas.openxmlformats.org/officeDocument/2006/relationships" id="268" r:id="Rcac05e99760c4d04"/>
    <p:sldId xmlns:r="http://schemas.openxmlformats.org/officeDocument/2006/relationships" id="269" r:id="R21bcc0f1e4e14c64"/>
    <p:sldId xmlns:r="http://schemas.openxmlformats.org/officeDocument/2006/relationships" id="270" r:id="R1cdf518a885b48ff"/>
    <p:sldId xmlns:r="http://schemas.openxmlformats.org/officeDocument/2006/relationships" id="271" r:id="Ra8c080bac07f45ac"/>
    <p:sldId xmlns:r="http://schemas.openxmlformats.org/officeDocument/2006/relationships" id="272" r:id="R69e769dadea14ec2"/>
    <p:sldId xmlns:r="http://schemas.openxmlformats.org/officeDocument/2006/relationships" id="273" r:id="R2f247f94994e4f28"/>
    <p:sldId xmlns:r="http://schemas.openxmlformats.org/officeDocument/2006/relationships" id="274" r:id="R2968c4441d6148f1"/>
    <p:sldId xmlns:r="http://schemas.openxmlformats.org/officeDocument/2006/relationships" id="275" r:id="Re22a517648ab4576"/>
    <p:sldId xmlns:r="http://schemas.openxmlformats.org/officeDocument/2006/relationships" id="276" r:id="Re826278084734b7d"/>
    <p:sldId xmlns:r="http://schemas.openxmlformats.org/officeDocument/2006/relationships" id="277" r:id="R0c85d106174c4add"/>
    <p:sldId xmlns:r="http://schemas.openxmlformats.org/officeDocument/2006/relationships" id="278" r:id="R2da699dfa6d54d59"/>
    <p:sldId xmlns:r="http://schemas.openxmlformats.org/officeDocument/2006/relationships" id="279" r:id="R7df995f098564a91"/>
    <p:sldId xmlns:r="http://schemas.openxmlformats.org/officeDocument/2006/relationships" id="280" r:id="Rc91687cea20a49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6d231d8c88422f" /><Relationship Type="http://schemas.openxmlformats.org/officeDocument/2006/relationships/slideMaster" Target="/ppt/slideMasters/slideMaster1.xml" Id="Rfc5bb0794edf4544" /><Relationship Type="http://schemas.openxmlformats.org/officeDocument/2006/relationships/notesMaster" Target="/ppt/notesMasters/notesMaster1.xml" Id="Rc6a6d4fe4c80495a" /><Relationship Type="http://schemas.openxmlformats.org/officeDocument/2006/relationships/presProps" Target="/ppt/presProps.xml" Id="R20a82d0c4f524358" /><Relationship Type="http://schemas.openxmlformats.org/officeDocument/2006/relationships/tableStyles" Target="/ppt/tableStyles.xml" Id="Rdec2f56f9b6f4778" /><Relationship Type="http://schemas.openxmlformats.org/officeDocument/2006/relationships/slide" Target="/ppt/slides/slide1.xml" Id="R3f48e57f8bbb4a69" /><Relationship Type="http://schemas.openxmlformats.org/officeDocument/2006/relationships/slide" Target="/ppt/slides/slide2.xml" Id="Rcf32ced901db4e49" /><Relationship Type="http://schemas.openxmlformats.org/officeDocument/2006/relationships/slide" Target="/ppt/slides/slide3.xml" Id="R307da8bc726d4128" /><Relationship Type="http://schemas.openxmlformats.org/officeDocument/2006/relationships/slide" Target="/ppt/slides/slide4.xml" Id="R9d2664bc7d144423" /><Relationship Type="http://schemas.openxmlformats.org/officeDocument/2006/relationships/slide" Target="/ppt/slides/slide5.xml" Id="Rcfa53a625065478a" /><Relationship Type="http://schemas.openxmlformats.org/officeDocument/2006/relationships/slide" Target="/ppt/slides/slide6.xml" Id="Rc020a8126984445a" /><Relationship Type="http://schemas.openxmlformats.org/officeDocument/2006/relationships/slide" Target="/ppt/slides/slide7.xml" Id="Rdeec335064124113" /><Relationship Type="http://schemas.openxmlformats.org/officeDocument/2006/relationships/slide" Target="/ppt/slides/slide8.xml" Id="Rb93f9a5df6474f6c" /><Relationship Type="http://schemas.openxmlformats.org/officeDocument/2006/relationships/slide" Target="/ppt/slides/slide9.xml" Id="R68be081656e24e5c" /><Relationship Type="http://schemas.openxmlformats.org/officeDocument/2006/relationships/slide" Target="/ppt/slides/slide10.xml" Id="Rb6ab6b8501d1425a" /><Relationship Type="http://schemas.openxmlformats.org/officeDocument/2006/relationships/slide" Target="/ppt/slides/slide11.xml" Id="R876d292a1ddb4b59" /><Relationship Type="http://schemas.openxmlformats.org/officeDocument/2006/relationships/slide" Target="/ppt/slides/slide12.xml" Id="R39ef0606194e4563" /><Relationship Type="http://schemas.openxmlformats.org/officeDocument/2006/relationships/slide" Target="/ppt/slides/slide13.xml" Id="Rcac05e99760c4d04" /><Relationship Type="http://schemas.openxmlformats.org/officeDocument/2006/relationships/slide" Target="/ppt/slides/slide14.xml" Id="R21bcc0f1e4e14c64" /><Relationship Type="http://schemas.openxmlformats.org/officeDocument/2006/relationships/slide" Target="/ppt/slides/slide15.xml" Id="R1cdf518a885b48ff" /><Relationship Type="http://schemas.openxmlformats.org/officeDocument/2006/relationships/slide" Target="/ppt/slides/slide16.xml" Id="Ra8c080bac07f45ac" /><Relationship Type="http://schemas.openxmlformats.org/officeDocument/2006/relationships/slide" Target="/ppt/slides/slide17.xml" Id="R69e769dadea14ec2" /><Relationship Type="http://schemas.openxmlformats.org/officeDocument/2006/relationships/slide" Target="/ppt/slides/slide18.xml" Id="R2f247f94994e4f28" /><Relationship Type="http://schemas.openxmlformats.org/officeDocument/2006/relationships/slide" Target="/ppt/slides/slide19.xml" Id="R2968c4441d6148f1" /><Relationship Type="http://schemas.openxmlformats.org/officeDocument/2006/relationships/slide" Target="/ppt/slides/slide20.xml" Id="Re22a517648ab4576" /><Relationship Type="http://schemas.openxmlformats.org/officeDocument/2006/relationships/slide" Target="/ppt/slides/slide21.xml" Id="Re826278084734b7d" /><Relationship Type="http://schemas.openxmlformats.org/officeDocument/2006/relationships/slide" Target="/ppt/slides/slide22.xml" Id="R0c85d106174c4add" /><Relationship Type="http://schemas.openxmlformats.org/officeDocument/2006/relationships/slide" Target="/ppt/slides/slide23.xml" Id="R2da699dfa6d54d59" /><Relationship Type="http://schemas.openxmlformats.org/officeDocument/2006/relationships/slide" Target="/ppt/slides/slide24.xml" Id="R7df995f098564a91" /><Relationship Type="http://schemas.openxmlformats.org/officeDocument/2006/relationships/slide" Target="/ppt/slides/slide25.xml" Id="Rc91687cea20a49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83c87ef20540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fb67b4e74d4725" /><Relationship Type="http://schemas.openxmlformats.org/officeDocument/2006/relationships/notesMaster" Target="/ppt/notesMasters/notesMaster1.xml" Id="Rfc905f775f8f41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110cc850f94bbd" /><Relationship Type="http://schemas.openxmlformats.org/officeDocument/2006/relationships/notesMaster" Target="/ppt/notesMasters/notesMaster1.xml" Id="Rce2ad7eda94741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cd89aa0a04444e" /><Relationship Type="http://schemas.openxmlformats.org/officeDocument/2006/relationships/notesMaster" Target="/ppt/notesMasters/notesMaster1.xml" Id="R4f3c9c30d8f44e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2dd863e5ec4886" /><Relationship Type="http://schemas.openxmlformats.org/officeDocument/2006/relationships/notesMaster" Target="/ppt/notesMasters/notesMaster1.xml" Id="Rac7578e38fa543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478e536743453d" /><Relationship Type="http://schemas.openxmlformats.org/officeDocument/2006/relationships/notesMaster" Target="/ppt/notesMasters/notesMaster1.xml" Id="R39129d29085c47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9331577a0348ce" /><Relationship Type="http://schemas.openxmlformats.org/officeDocument/2006/relationships/notesMaster" Target="/ppt/notesMasters/notesMaster1.xml" Id="R126b224da0324c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99475800af4ada" /><Relationship Type="http://schemas.openxmlformats.org/officeDocument/2006/relationships/notesMaster" Target="/ppt/notesMasters/notesMaster1.xml" Id="R3ea1c22cd03044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dfd09df99b4741" /><Relationship Type="http://schemas.openxmlformats.org/officeDocument/2006/relationships/notesMaster" Target="/ppt/notesMasters/notesMaster1.xml" Id="Rb0b7e54ed65743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48c5c5807e448f" /><Relationship Type="http://schemas.openxmlformats.org/officeDocument/2006/relationships/notesMaster" Target="/ppt/notesMasters/notesMaster1.xml" Id="Re957a7a563a940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8d98d9e1b846e4" /><Relationship Type="http://schemas.openxmlformats.org/officeDocument/2006/relationships/notesMaster" Target="/ppt/notesMasters/notesMaster1.xml" Id="R982f7fa4c40846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4b4c57531a4b91" /><Relationship Type="http://schemas.openxmlformats.org/officeDocument/2006/relationships/notesMaster" Target="/ppt/notesMasters/notesMaster1.xml" Id="R6211e71d487845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31dadf0ace47d1" /><Relationship Type="http://schemas.openxmlformats.org/officeDocument/2006/relationships/notesMaster" Target="/ppt/notesMasters/notesMaster1.xml" Id="R23bc713467d84d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72e5c7a6e542b2" /><Relationship Type="http://schemas.openxmlformats.org/officeDocument/2006/relationships/notesMaster" Target="/ppt/notesMasters/notesMaster1.xml" Id="R3234e83b781440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fd9af024e44999" /><Relationship Type="http://schemas.openxmlformats.org/officeDocument/2006/relationships/notesMaster" Target="/ppt/notesMasters/notesMaster1.xml" Id="Rfe0c9f232fc944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209e0f92714fc7" /><Relationship Type="http://schemas.openxmlformats.org/officeDocument/2006/relationships/notesMaster" Target="/ppt/notesMasters/notesMaster1.xml" Id="R8c69b01c1974425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8bdcb6bc5764b1d" /><Relationship Type="http://schemas.openxmlformats.org/officeDocument/2006/relationships/notesMaster" Target="/ppt/notesMasters/notesMaster1.xml" Id="R0da1f0792b6a41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8e90af9cad44d9" /><Relationship Type="http://schemas.openxmlformats.org/officeDocument/2006/relationships/notesMaster" Target="/ppt/notesMasters/notesMaster1.xml" Id="Rdc7b76e7bd2b461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b5d3318830143cd" /><Relationship Type="http://schemas.openxmlformats.org/officeDocument/2006/relationships/notesMaster" Target="/ppt/notesMasters/notesMaster1.xml" Id="R1c919c7aa8dc43a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822d597631e4361" /><Relationship Type="http://schemas.openxmlformats.org/officeDocument/2006/relationships/notesMaster" Target="/ppt/notesMasters/notesMaster1.xml" Id="R20317ce9312e45b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7ce3ceafc3344ff" /><Relationship Type="http://schemas.openxmlformats.org/officeDocument/2006/relationships/notesMaster" Target="/ppt/notesMasters/notesMaster1.xml" Id="Rd3af8eba7a21449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8a57852181f486b" /><Relationship Type="http://schemas.openxmlformats.org/officeDocument/2006/relationships/notesMaster" Target="/ppt/notesMasters/notesMaster1.xml" Id="R4bb1176c2327438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b349da678cd4c68" /><Relationship Type="http://schemas.openxmlformats.org/officeDocument/2006/relationships/notesMaster" Target="/ppt/notesMasters/notesMaster1.xml" Id="R57ba8dc15db3432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df47e67661045be" /><Relationship Type="http://schemas.openxmlformats.org/officeDocument/2006/relationships/notesMaster" Target="/ppt/notesMasters/notesMaster1.xml" Id="R8466531be1fc48a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b4ff9569e2e4dcc" /><Relationship Type="http://schemas.openxmlformats.org/officeDocument/2006/relationships/notesMaster" Target="/ppt/notesMasters/notesMaster1.xml" Id="R01623a896ebb4ae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b4aa406e4cd42cf" /><Relationship Type="http://schemas.openxmlformats.org/officeDocument/2006/relationships/notesMaster" Target="/ppt/notesMasters/notesMaster1.xml" Id="Rcf0239f9b26a48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2 min (0–2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Przedstaw efekt zajęć: obliczenia w Pythonie i mapa na koncie AGH. Zapowiedz, że to analiza wskaźników, nie model uczenia maszynowego. Uczestnicy powinni znać podstawy tablic NumPy. IBIS pozostaje poza zakresem.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5 min (2–7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Otwórz przygotowaną stronę lokalnie. Przełącz cztery warstwy, pokaż legendę i przezroczystość. Wyjaśnij, że notatnik odtwarza te same wyniki. Zapytaj studentów, czy sam kolor mapy wystarczy do określenia pokrycia terenu. Zarezerwuj dwie minuty na odpowiedzi.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(7–11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nazwy plików. Zwróć uwagę na sr_band i identyfikator L1TP w nazwie sceny. Dane zostały wycięte prostokątem bez resamplingu. XML opisuje pełną scenę, ale georeferencję wycinka czytamy z TIFF. Nie pobieramy archiwalnej Collection 1 na zajęciach, ponieważ używamy dostarczonych danych.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(11–15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Powiąż kanały z RGB i wzorami wskaźników. Zapytaj, dlaczego RGB nie pokazuje wszystkiego, co rejestruje satelita. Nie myl numeracji pasm Landsat 8 z Landsat 5. Kanał B5 jest bliską podczerwienią, nie kanałem termalnym.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(15–19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znaczenie CRS i transformacji afinicznej. Jeden piksel ma 30 m. Przypisanie CRS to interpretacja istniejących liczb, reprojekcja to przeliczenie. Brak PRJ w oryginale został jawnie uzupełniony na podstawie zgodności ze starymi rastrami clipped; nie przedstawiaj tej granicy jako zweryfikowanej urzędowej geometrii.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(19–23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prostokątny obraz B5. Omów odczyt tylko niezbędnej części sceny. Następnie transform_geom przelicza granicę, a geometry_mask tworzy maskę środków pikseli. Zmiana all_touched może zmienić liczbę pikseli na granicy.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(23–27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Przelicz przykład na tablicy. W tej scenie add_offset nie występuje, więc przyjmujemy 0. C2 ma inne parametry, w tym offset. Nie opisuj 10000 jako maksimum wszystkich pikseli. XML dopuszcza wartości ujemne. Zapytaj, kiedy wspólna skala skraca się w ilorazie i dlaczego offset już się nie skraca.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ESPA XML; https://www.usgs.gov/faqs/how-do-i-use-a-scale-factor-landsat-level-2-science-products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5 min (27–32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flagi fill, cień, śnieg, chmury, przesłonięcie terenu i wysoką pewność cirrus. Wskaż osobną kontrolę nasycenia B2–B6. Odrzucono 98 pikseli w granicy, więc obraz jest prawie cały zielony. Białe tło oznacza obszar poza granicą. Poproś o rozkodowanie wartości 4 jako bitu wody.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Bity pixel_qa i radsat_qa w dołączonym ESPA XML; outputs/summary.json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(32–36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Porównaj obraz po maskowaniu z poprzednim. Wyjaśnij różnicę między zerową reflektancją a brakiem danych. Znormalizowana różnica równych niezerowych kanałów daje zero. Dwa zera dają wynik nieokreślony. W kodzie granica bezpiecznego mianownika to 1e-6.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(36–40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Wskaż widoczne struktury pól, lasów i zabudowy. Rozciągnięcie kontrastu dotyczy tylko wyświetlania, osobno dla każdego kanału. Nie używamy tak zmodyfikowanych wartości do obliczeń wskaźników. Podkład internetowy może pokazywać nowszy stan terenu niż scena.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(40–44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Przykłady są dydaktyczne, nie są zmierzonymi pikselami mapy. Poproś studentów o obliczenie wyniku dla odwróconej pary 0.2 i 0.6. Wynik -0.5 pozostaje poprawny. Przy ujemnych wejściach iloraz może wyjść poza [-1,1]. Kod nie obcina wyników analitycznych.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(44–48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przestrzenny rozkład wysokich wartości. Zapytaj, czy każdy zielony piksel jest lasem. Wysoki NDVI nie identyfikuje gatunku ani nie jest samodzielną diagnozą zdrowia. Wskaż trzy piksele spoza [-1,1] w raporcie; na mapie kolor ograniczono, ale wartości GeoTIFF zachowano.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outputs/summary.json; https://www.usgs.gov/landsat-missions/landsat-normalized-difference-vegetation-index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(48–52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Omów możliwość pomylenia odsłoniętej gleby z zabudową. Średnia wynosi -0.1905 i nie opisuje sama w sobie urbanizacji regionu. Przykład na tablicy: 0.35 i 0.20 daje około 0.273. Nie zakładaj, że każdy dodatni piksel jest budynkiem.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Zha, Gao, Ni (2003), DOI 10.1080/01431160210144570; outputs/summary.json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(52–56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korektę nazewnictwa starego kodu: B3/B6 odpowiada MNDWI. Zaproponuj odszukanie rzeki i porównanie z RGB. Wąskie cieki mogą dawać piksele mieszane przy 30 m. Dodatni wynik nie zastępuje weryfikacji terenowej.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Xu (2006), DOI 10.1080/01431160600589179; dane projektu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(56–60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edytowalny wykres średnich z summary.json. Uczestnicy powinni równolegle zajrzeć do histogramów w notatniku/PDF. Zwróć uwagę na różne znaczenia poszczególnych indeksów: porównanie wysokości słupków nie oznacza rankingu jakości. Średnie dotyczą wyłącznie ważnych pikseli.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(60–63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Poproś o dwa przykłady błędnych wniosków: aktualna powierzchnia zabudowy z dawnej sceny i utożsamienie NDBI&gt;0 z budynkami. Wskaż znaczenie walidacji niezależnymi danymi. Temat MODIS można zasygnalizować jako dalszą analizę czasową, bez dodawania ćwiczenia do tego laboratorium.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(63–66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pliki NDVI.tif i NDVI_display.tif. Ten drugi zapisuje kolory, nie NDVI. Omów test allclose z equal_nan=True oraz sprawdzenie CRS i transformacji. Student powinien rozumieć, dlaczego screenshot mapy nie zastępuje danych.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(66–69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wspólny zakres legendy. Dwie mapy z automatycznym min/max mogą wyglądać podobnie mimo różnych wartości. Przedstaw przykład NDVI 1.0062: numerycznie pozostaje w TIFF, a na mapie dostaje skrajny kolor. Odróżnij alfa od globalnej przezroczystości suwaka.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(69–73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Omów piramidę zoomów i wpływ maksymalnego zoomu na liczbę plików. Pomieszanie XYZ z TMS odwraca indeks y. Reprojekcja odbywa się w Pythonie przez Rasterio. Nie zwiększamy informacyjnej rozdzielczości obrazu, kiedy użytkownik powiększa kafelki do zoomu 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Kod xyz_tiles; https://rasterio.readthedocs.io/en/stable/topics/reproject.html; https://leafletjs.com/reference.html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(73–76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Przeprowadź krótką demonstrację strony. Nie trzeba instalować Pythona na serwerze AGH, ponieważ przesyłamy statyczne pliki. Bibliotekę Leaflet dołączono lokalnie. Zachowujemy informacje o autorstwie podkładu. Sama publikacja HTML bez tiles prowadzi do pustej mapy.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(76–79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Dwie pierwsze linie na slajdzie stanowią jedno polecenie. W Markdown jest gotowy blok do skopiowania. Wyjaśnij, dlaczego nie używać file:// i że serwer pozostaje zajęty do Ctrl+C. Drugie okno terminala służy do SSH/SCP. Przy zajętym porcie wybieramy 8001.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(79–82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rozdział hosta SSH i WWW. Dla galaxy WWW to home.agh.edu.pl/~login. Strony studentów są dostępne w sieci AGH/VPN. Używamy loginu UNIX bez sufiksu @student. Pierwsze połączenie wymaga sprawdzenia klucza serwera. Nie zapisujemy haseł w notatniku.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https://cri.agh.edu.pl/uslugi/konta-unix, sprawdzono 30.09.2026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(82–85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polecenie scp -r outputs/site/. i składnię login@host:ścieżka. Nowy katalog chroni istniejącą stronę główną. Uprawnienia katalogów 755, plików 644. HTTP 200 dla index.html nie dowodzi poprawnego przesłania kafelków. Pełne polecenia są w notatniku, PDF i Markdown.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(85–88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Przypomnij konieczność przygotowania środowiska przed zajęciami. Każdy student ma uruchomić notatnik i zrozumieć najważniejszy fragment np.divide. Modyfikacja progu NDVI jest krótkim eksperymentem. Rezultat: URL, notatnik, trzy wnioski. Gdy konto nie działa, zachowujemy paczkę strony, ale nie udajemy publikacji.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2 min (88–90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Odpowiedzi: zero może być ważną wartością; dodatni NDBI może oznaczać glebę; potrzebne są tiles, vendor i pliki danych strony; powiększenie nie zmienia rozdzielczości źródłowej. Zakończ wskazaniem konspektu i notatnika. Źródła naukowe oraz dokumentacja znajdują się w końcowej części PDF i notatnika.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0cece6b5d43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a7879e5bc4408e" /><Relationship Type="http://schemas.openxmlformats.org/officeDocument/2006/relationships/slideLayout" Target="/ppt/slideLayouts/slideLayout1.xml" Id="Rf8f8f0abbcb24d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f8f0abbcb24d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d6532b0b2419d" /><Relationship Type="http://schemas.openxmlformats.org/officeDocument/2006/relationships/notesSlide" Target="/ppt/notesSlides/notesSlide1.xml" Id="Ra3e845a472e740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95ffb74774275" /><Relationship Type="http://schemas.openxmlformats.org/officeDocument/2006/relationships/notesSlide" Target="/ppt/notesSlides/notesSlide2.xml" Id="Re8df7a6c4dde41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cbddf0b3c4fbf" /><Relationship Type="http://schemas.openxmlformats.org/officeDocument/2006/relationships/notesSlide" Target="/ppt/notesSlides/notesSlide3.xml" Id="Rbf913926f0cd44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d46ceb129445e" /><Relationship Type="http://schemas.openxmlformats.org/officeDocument/2006/relationships/notesSlide" Target="/ppt/notesSlides/notesSlide4.xml" Id="R22aea8d1c55d45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d2845aacd4aa8" /><Relationship Type="http://schemas.openxmlformats.org/officeDocument/2006/relationships/notesSlide" Target="/ppt/notesSlides/notesSlide5.xml" Id="R6569561fe0a444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ce3fc445e466b" /><Relationship Type="http://schemas.openxmlformats.org/officeDocument/2006/relationships/image" Target="/ppt/media/image.png" Id="R74b6e944af734b28" /><Relationship Type="http://schemas.openxmlformats.org/officeDocument/2006/relationships/notesSlide" Target="/ppt/notesSlides/notesSlide6.xml" Id="Ra8f06dfa3fda4c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92e939eba44ca" /><Relationship Type="http://schemas.openxmlformats.org/officeDocument/2006/relationships/notesSlide" Target="/ppt/notesSlides/notesSlide7.xml" Id="Ra6a54ac3b75b4a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ad6c96b2d4cd9" /><Relationship Type="http://schemas.openxmlformats.org/officeDocument/2006/relationships/image" Target="/ppt/media/image2.png" Id="Rcc6e1d1d99fe4a58" /><Relationship Type="http://schemas.openxmlformats.org/officeDocument/2006/relationships/notesSlide" Target="/ppt/notesSlides/notesSlide8.xml" Id="R5b8567aa1c9543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da64113f74f27" /><Relationship Type="http://schemas.openxmlformats.org/officeDocument/2006/relationships/image" Target="/ppt/media/image3.png" Id="Red26e096852e42c3" /><Relationship Type="http://schemas.openxmlformats.org/officeDocument/2006/relationships/notesSlide" Target="/ppt/notesSlides/notesSlide9.xml" Id="Rbac9e4383bb841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49674df524d34" /><Relationship Type="http://schemas.openxmlformats.org/officeDocument/2006/relationships/image" Target="/ppt/media/image4.png" Id="R9eb7ff95aaf0439a" /><Relationship Type="http://schemas.openxmlformats.org/officeDocument/2006/relationships/notesSlide" Target="/ppt/notesSlides/notesSlide10.xml" Id="Rfff88cfe3a3641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73a1f28d14876" /><Relationship Type="http://schemas.openxmlformats.org/officeDocument/2006/relationships/notesSlide" Target="/ppt/notesSlides/notesSlide11.xml" Id="R2d6f26ac1fc745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6bea4adf24e9a" /><Relationship Type="http://schemas.openxmlformats.org/officeDocument/2006/relationships/image" Target="/ppt/media/image5.png" Id="R49ccda04543a4914" /><Relationship Type="http://schemas.openxmlformats.org/officeDocument/2006/relationships/notesSlide" Target="/ppt/notesSlides/notesSlide12.xml" Id="Rfe2ec153de2e49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95f944bbe482f" /><Relationship Type="http://schemas.openxmlformats.org/officeDocument/2006/relationships/image" Target="/ppt/media/image6.png" Id="R46f53fb267b24652" /><Relationship Type="http://schemas.openxmlformats.org/officeDocument/2006/relationships/notesSlide" Target="/ppt/notesSlides/notesSlide13.xml" Id="R0f8805db32c042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f9c7b7c7942dc" /><Relationship Type="http://schemas.openxmlformats.org/officeDocument/2006/relationships/image" Target="/ppt/media/image7.png" Id="R1eb9fa9fa42549db" /><Relationship Type="http://schemas.openxmlformats.org/officeDocument/2006/relationships/notesSlide" Target="/ppt/notesSlides/notesSlide14.xml" Id="R16bc8f254e61443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3e2470d62497b" /><Relationship Type="http://schemas.openxmlformats.org/officeDocument/2006/relationships/chart" Target="/ppt/slides/charts/chart1.xml" Id="R6cf7424d4e6542ee" /><Relationship Type="http://schemas.openxmlformats.org/officeDocument/2006/relationships/notesSlide" Target="/ppt/notesSlides/notesSlide15.xml" Id="R080cfb993ebd4b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8c7abd9cd47a7" /><Relationship Type="http://schemas.openxmlformats.org/officeDocument/2006/relationships/notesSlide" Target="/ppt/notesSlides/notesSlide16.xml" Id="Re907a8a0635b41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10dd2d418486c" /><Relationship Type="http://schemas.openxmlformats.org/officeDocument/2006/relationships/notesSlide" Target="/ppt/notesSlides/notesSlide17.xml" Id="R6971eb78d07544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284ab2cbf450c" /><Relationship Type="http://schemas.openxmlformats.org/officeDocument/2006/relationships/notesSlide" Target="/ppt/notesSlides/notesSlide18.xml" Id="R2cc2cae848b6448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77473c71441bb" /><Relationship Type="http://schemas.openxmlformats.org/officeDocument/2006/relationships/notesSlide" Target="/ppt/notesSlides/notesSlide19.xml" Id="R89eb50b8ef56463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bff6c17f84b22" /><Relationship Type="http://schemas.openxmlformats.org/officeDocument/2006/relationships/notesSlide" Target="/ppt/notesSlides/notesSlide20.xml" Id="R2310aa83d2dc406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4de68ff884aaa" /><Relationship Type="http://schemas.openxmlformats.org/officeDocument/2006/relationships/notesSlide" Target="/ppt/notesSlides/notesSlide21.xml" Id="Red7ac589b52642b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7646715944471" /><Relationship Type="http://schemas.openxmlformats.org/officeDocument/2006/relationships/notesSlide" Target="/ppt/notesSlides/notesSlide22.xml" Id="R9bd9b42658654d7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fcaf18eed48c4" /><Relationship Type="http://schemas.openxmlformats.org/officeDocument/2006/relationships/notesSlide" Target="/ppt/notesSlides/notesSlide23.xml" Id="Rc7f93329070d40e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7240e86f14cf3" /><Relationship Type="http://schemas.openxmlformats.org/officeDocument/2006/relationships/notesSlide" Target="/ppt/notesSlides/notesSlide24.xml" Id="Re56556403983420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19723cd0a4d5f" /><Relationship Type="http://schemas.openxmlformats.org/officeDocument/2006/relationships/notesSlide" Target="/ppt/notesSlides/notesSlide25.xml" Id="Rc57222e095c04cf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Średnia</c:v>
          </c:tx>
          <c:spPr>
            <a:solidFill xmlns:a="http://schemas.openxmlformats.org/drawingml/2006/main">
              <a:srgbClr val="147F8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NDVI</c:v>
                </c:pt>
                <c:pt idx="1">
                  <c:v>NDBI</c:v>
                </c:pt>
                <c:pt idx="2">
                  <c:v>MNDWI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0.6179</c:v>
                </c:pt>
                <c:pt idx="1">
                  <c:v>-0.1905</c:v>
                </c:pt>
                <c:pt idx="2">
                  <c:v>-0.4896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328BB-413D-43DE-8C8C-E2D36CFD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Landsat 8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Analiza i publikacja mapy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50A57-4F6C-4BDB-AAA2-E3F99FB9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EDEE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DEE0"/>
                </a:solidFill>
                <a:latin typeface="Arial"/>
                <a:ea typeface="Arial"/>
                <a:cs typeface="Arial"/>
              </a:rPr>
              <a:t>Wykład 90 minut</a:t>
            </a:r>
          </a:p>
          <a:p xmlns:a="http://schemas.openxmlformats.org/drawingml/2006/main">
            <a:pPr>
              <a:defRPr sz="2250" b="0">
                <a:solidFill>
                  <a:srgbClr val="BEDEE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DEE0"/>
                </a:solidFill>
                <a:latin typeface="Arial"/>
                <a:ea typeface="Arial"/>
                <a:cs typeface="Arial"/>
              </a:rPr>
              <a:t>Laboratorium 90 minut</a:t>
            </a:r>
          </a:p>
          <a:p xmlns:a="http://schemas.openxmlformats.org/drawingml/2006/main">
            <a:pPr>
              <a:defRPr sz="2250" b="0">
                <a:solidFill>
                  <a:srgbClr val="BEDEE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DEE0"/>
                </a:solidFill>
                <a:latin typeface="Arial"/>
                <a:ea typeface="Arial"/>
                <a:cs typeface="Arial"/>
              </a:rPr>
              <a:t>Kraków i okolice, 7 sierpnia 2013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95E92-D65A-4894-8914-8442EEBA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01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241CC-3B5D-4F5F-97FE-67B8BEB2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0–2 min</a:t>
            </a:r>
          </a:p>
        </p:txBody>
      </p:sp>
    </p:spTree>
    <p:extLst>
      <p:ext uri="{BB962C8B-B14F-4D97-AF65-F5344CB8AC3E}">
        <p14:creationId xmlns:p14="http://schemas.microsoft.com/office/powerpoint/2010/main" val="1788245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A7C45-56C1-456E-858E-67A3FD0D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Efekt końcowy ćwiczenia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D23BF-E8BC-4C1C-9E7E-5F0A4660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NDVI, NDBI i MNDWI w jednej mapie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GeoTIFF do dalszej analizy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Publikacja na koncie UNIX AGH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F4899-E0F4-4B1B-9A1D-55B72967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02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38C5E-2DFC-4AC8-A33B-EB978DC2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2–7 min</a:t>
            </a:r>
          </a:p>
        </p:txBody>
      </p:sp>
    </p:spTree>
    <p:extLst>
      <p:ext uri="{BB962C8B-B14F-4D97-AF65-F5344CB8AC3E}">
        <p14:creationId xmlns:p14="http://schemas.microsoft.com/office/powerpoint/2010/main" val="9064045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D6153-18B6-419E-B656-C83A196F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Scena i paczka danych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E3966-A2A4-421C-A814-CCE4CEB9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2013-08-07, Collection 1 Surface Reflectance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1583 × 1982 piksele, rozdzielczość 30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B2–B6, pixel_qa, radsat_qa i XML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FF774-0E2E-476B-91B0-F17CAEFA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03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D6CB3-9E11-4F6C-9D06-AEA72C90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7–11 min</a:t>
            </a:r>
          </a:p>
        </p:txBody>
      </p:sp>
    </p:spTree>
    <p:extLst>
      <p:ext uri="{BB962C8B-B14F-4D97-AF65-F5344CB8AC3E}">
        <p14:creationId xmlns:p14="http://schemas.microsoft.com/office/powerpoint/2010/main" val="10513018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F3759-65C8-47BF-B44C-40AAF5FF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Kanały użyte w ćwiczeniu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17342-9C2A-4728-AEF4-65B19A54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B2  niebieski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181A1-86C4-4DD4-B830-D99A2A2D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B3  zielony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FA75B-77DE-4FB4-8FEF-07C52E48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B4  czerwony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5192A-EBF6-4245-8DD6-2C2CB04F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B5  NIR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76A9E-A43E-42E6-84E0-A6DE4EA2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B6  SWIR1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4049C-4388-492D-BEB0-33B7CAD5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04  /  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2C837-43B8-4A0A-BCFB-75C13991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11–15 min</a:t>
            </a:r>
          </a:p>
        </p:txBody>
      </p:sp>
    </p:spTree>
    <p:extLst>
      <p:ext uri="{BB962C8B-B14F-4D97-AF65-F5344CB8AC3E}">
        <p14:creationId xmlns:p14="http://schemas.microsoft.com/office/powerpoint/2010/main" val="5059947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C33F1-1B8B-4ECC-A30C-BF27565A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Georeferencja rastra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FCC0D-2CBB-43C0-B647-3250B318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EPSG:32634: metry w układzie UTM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Transformacja wiąże wiersz i kolumnę z położeniem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GeoJSON granicy: EPSG:4326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2A7F8-D13E-44DB-945C-91D8158A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05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2BFF0-C079-4F88-A0DC-503D5E42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15–19 min</a:t>
            </a:r>
          </a:p>
        </p:txBody>
      </p:sp>
    </p:spTree>
    <p:extLst>
      <p:ext uri="{BB962C8B-B14F-4D97-AF65-F5344CB8AC3E}">
        <p14:creationId xmlns:p14="http://schemas.microsoft.com/office/powerpoint/2010/main" val="5125302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A231D-46F9-402F-944B-2C30FA47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Przycięcie do granicy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0607B-250A-4D47-9240-44126443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Prostokąt ogranicza koszt odczytu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Maska wielokąta wyznacza obszar analizy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Poza granicą zapisujemy brak danych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6e944af734b28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04708-9530-4FB3-9207-A8E565B5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06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1CB59-4C28-44C4-8C2C-479F670B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19–23 min</a:t>
            </a:r>
          </a:p>
        </p:txBody>
      </p:sp>
    </p:spTree>
    <p:extLst>
      <p:ext uri="{BB962C8B-B14F-4D97-AF65-F5344CB8AC3E}">
        <p14:creationId xmlns:p14="http://schemas.microsoft.com/office/powerpoint/2010/main" val="1928957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3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433A3-A6D5-4CBE-9174-AD6AD0EA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Skalowanie reflektancji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6BB30-B052-4721-A266-20F7EDC4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ρ = DN × skala + offset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6000 × 0.0001 = 0.6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Parametry pochodzą z XML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97E83-1713-4F5C-9F86-31F21190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07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0D1C1-3DD0-4573-BFB5-6F450285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23–27 min</a:t>
            </a:r>
          </a:p>
        </p:txBody>
      </p:sp>
    </p:spTree>
    <p:extLst>
      <p:ext uri="{BB962C8B-B14F-4D97-AF65-F5344CB8AC3E}">
        <p14:creationId xmlns:p14="http://schemas.microsoft.com/office/powerpoint/2010/main" val="2120809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670C6-0C3C-4AA2-87A0-AA98EA8B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Maska jakości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88822-85BA-4D33-9E95-6FE8A8B4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 granicy: 1 729 364 pikseli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Ważne: 1 729 266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Woda pozostaje w analizie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e1d1d99fe4a58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8BC15-52D7-4344-9B03-3118F26A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08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1B4CF-01F8-4A0F-8AFE-CB2B716F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27–32 min</a:t>
            </a:r>
          </a:p>
        </p:txBody>
      </p:sp>
    </p:spTree>
    <p:extLst>
      <p:ext uri="{BB962C8B-B14F-4D97-AF65-F5344CB8AC3E}">
        <p14:creationId xmlns:p14="http://schemas.microsoft.com/office/powerpoint/2010/main" val="11193137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FA270-1735-4F5B-9DDF-215121DF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Zero, wartość ujemna i NoData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6AF4C-9107-4F8F-94F4-B40F93FB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0 może być poprawną obserwacją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NaN oznacza brak ważnego wyniku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Mianownik bliski zeru wymaga maski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6e096852e42c3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C90CD-7AA5-4275-B708-59F86639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09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F4ED4-7038-4F17-BCBB-817F7B69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32–36 min</a:t>
            </a:r>
          </a:p>
        </p:txBody>
      </p:sp>
    </p:spTree>
    <p:extLst>
      <p:ext uri="{BB962C8B-B14F-4D97-AF65-F5344CB8AC3E}">
        <p14:creationId xmlns:p14="http://schemas.microsoft.com/office/powerpoint/2010/main" val="20012302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3A8BA-21D0-4781-BB2A-8BBC41DC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RGB jako odniesienie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46332-47E3-49CD-B061-7F183B1D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Kanały 4 / 3 /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Kontrast 2–98 percentyl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Obraz pomaga interpretować wskaźniki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7ff95aaf0439a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6A11E-FA22-49FB-81E8-5686A234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10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E9B1C-61EE-4185-B2C6-9D9F60AB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36–40 min</a:t>
            </a:r>
          </a:p>
        </p:txBody>
      </p:sp>
    </p:spTree>
    <p:extLst>
      <p:ext uri="{BB962C8B-B14F-4D97-AF65-F5344CB8AC3E}">
        <p14:creationId xmlns:p14="http://schemas.microsoft.com/office/powerpoint/2010/main" val="13758033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3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38FBA-91DE-48AD-BECD-6CEFA0CA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Znormalizowana różnica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D61F2-F209-45AA-9510-0EAD090D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 = (A − B) / (A + B)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= 0.6, B = 0.2: I = 0.5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= B ≠ 0: I = 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58EE5-5C1F-48DF-A59B-AD07A2A8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11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83AAE-C665-45A6-82DA-0D694931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40–44 min</a:t>
            </a:r>
          </a:p>
        </p:txBody>
      </p:sp>
    </p:spTree>
    <p:extLst>
      <p:ext uri="{BB962C8B-B14F-4D97-AF65-F5344CB8AC3E}">
        <p14:creationId xmlns:p14="http://schemas.microsoft.com/office/powerpoint/2010/main" val="18878990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5F348-7739-42B2-9D14-3774EFC2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NDVI: roślinność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FBE16-62B8-41F8-B922-3B725371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NDVI = (B5 − B4) / (B5 + B4)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Średnia w obszarze: 0.618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Interpretacja zależy od daty i pokrycia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cda04543a4914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3DCDA-A3CE-4E84-8070-0AFDCEB1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12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57DAD-34AD-4C9A-A101-1AD70310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44–48 min</a:t>
            </a:r>
          </a:p>
        </p:txBody>
      </p:sp>
    </p:spTree>
    <p:extLst>
      <p:ext uri="{BB962C8B-B14F-4D97-AF65-F5344CB8AC3E}">
        <p14:creationId xmlns:p14="http://schemas.microsoft.com/office/powerpoint/2010/main" val="11801310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EF945-8C06-468F-BAF0-5512708D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NDBI: zabudowa i gleba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CA4D8-A37D-4835-8E28-3DE2BE65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NDBI = (B6 − B5) / (B6 + B5)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Dodatni wynik wymaga sprawdzenia RGB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Próg nie jest gotową klasyfikacją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53fb267b24652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4854F-FB08-4C3B-98A3-B6B11FD0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13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1D9F5-4C92-47E3-BE5D-31DCA21F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48–52 min</a:t>
            </a:r>
          </a:p>
        </p:txBody>
      </p:sp>
    </p:spTree>
    <p:extLst>
      <p:ext uri="{BB962C8B-B14F-4D97-AF65-F5344CB8AC3E}">
        <p14:creationId xmlns:p14="http://schemas.microsoft.com/office/powerpoint/2010/main" val="21257506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33A61-6575-41D9-B88A-FCD41557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MNDWI: wody powierzchniowe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1B629-766E-428F-A4D1-339E5EB0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MNDWI = (B3 − B6) / (B3 + B6)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Kanał zielony i SWIR1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NDWI McFeetersa używa zielonego i NIR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9fa9fa42549db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C6AA5-B38D-4161-A6EC-DA7BCAF2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14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4DA3A-8045-407C-ABF9-83C26E4F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52–56 min</a:t>
            </a:r>
          </a:p>
        </p:txBody>
      </p:sp>
    </p:spTree>
    <p:extLst>
      <p:ext uri="{BB962C8B-B14F-4D97-AF65-F5344CB8AC3E}">
        <p14:creationId xmlns:p14="http://schemas.microsoft.com/office/powerpoint/2010/main" val="18179109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9494E-EC7D-415F-B88C-E90CE26E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Statystyki tego samego obszaru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6A077-2441-4EB2-93EC-BECC26C3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000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Średnia nie pokazuje rozmieszczenia przestrzennego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Wspólna maska ułatwia porównanie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Histogram ujawnia rozkład wartości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5048250" y="1524000"/>
          <a:ext xmlns:a="http://schemas.openxmlformats.org/drawingml/2006/main" cx="6572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f7424d4e6542e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5EA12-76B7-4195-9C3D-D2A8814D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15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C2973-E583-4150-82E8-188C844B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56–60 min</a:t>
            </a:r>
          </a:p>
        </p:txBody>
      </p:sp>
    </p:spTree>
    <p:extLst>
      <p:ext uri="{BB962C8B-B14F-4D97-AF65-F5344CB8AC3E}">
        <p14:creationId xmlns:p14="http://schemas.microsoft.com/office/powerpoint/2010/main" val="20632670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D9A3F-2BD9-4EDB-984B-C05DFE1D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Ograniczenia interpretacji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8BB7D-CA11-4875-BA1B-345906D5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Scena przedstawia 2013 rok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Piksele 30 m mogą mieszać różne obiekty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Maska QA nie usuwa każdej niepewności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Wskaźnik nie jest etykietą klasy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D64A9-9AE9-4D14-8D99-DDFF09B0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16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942C8-9CDF-4090-99E0-FE15D044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60–63 min</a:t>
            </a:r>
          </a:p>
        </p:txBody>
      </p:sp>
    </p:spTree>
    <p:extLst>
      <p:ext uri="{BB962C8B-B14F-4D97-AF65-F5344CB8AC3E}">
        <p14:creationId xmlns:p14="http://schemas.microsoft.com/office/powerpoint/2010/main" val="11701382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DDBE1-388A-4086-952D-F78AB76B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GeoTIFF do dalszych obliczeń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1247E-FA18-44EB-BD4D-2B417283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float32 i NoData = −9999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CRS i transformacja z wejścia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Odczyt kontrolny sprawdza wartości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7E854-7C49-4C58-91B1-C549BF91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17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D6A34-F0CF-4CF1-9048-67C78A2F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63–66 min</a:t>
            </a:r>
          </a:p>
        </p:txBody>
      </p:sp>
    </p:spTree>
    <p:extLst>
      <p:ext uri="{BB962C8B-B14F-4D97-AF65-F5344CB8AC3E}">
        <p14:creationId xmlns:p14="http://schemas.microsoft.com/office/powerpoint/2010/main" val="11166960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23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D9708-943A-4EA4-8803-357ADC98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Kolor i przezroczystość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B260D-95E5-4594-BD64-6C267716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Zakres legendy: −1 do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RGBA: kolor oraz kanał alfa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Brak danych pozostaje przezroczysty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71F7E-359B-4F19-AB90-D0F60DA8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18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87FC2-83CF-4D9F-B34D-C1FA4CA7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66–69 min</a:t>
            </a:r>
          </a:p>
        </p:txBody>
      </p:sp>
    </p:spTree>
    <p:extLst>
      <p:ext uri="{BB962C8B-B14F-4D97-AF65-F5344CB8AC3E}">
        <p14:creationId xmlns:p14="http://schemas.microsoft.com/office/powerpoint/2010/main" val="9307339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AF79B-A15D-48B9-98A5-66D1B583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Kafelki XYZ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F6B9E-BA42-41B7-AA8C-F18F67F9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256 × 256 pikseli, EPSG:3857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z / x / y.png, y rośnie na południe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Zoom 9–12: 512 plików dla czterech warstw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4AB45-7FD1-4865-8D69-EF3E59C9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19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B2E8A-A3EB-4E17-A173-FFA2E687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69–73 min</a:t>
            </a:r>
          </a:p>
        </p:txBody>
      </p:sp>
    </p:spTree>
    <p:extLst>
      <p:ext uri="{BB962C8B-B14F-4D97-AF65-F5344CB8AC3E}">
        <p14:creationId xmlns:p14="http://schemas.microsoft.com/office/powerpoint/2010/main" val="17979666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4B5F5-90DD-460B-AC50-C629250B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Kompletna mapa WWW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37A5A-97F1-4DA0-B3A4-8E240ED3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index.html oraz katalogi tiles i vendor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Wybór warstwy, legenda i przezroczystość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Podkład OpenStreetMap wymaga internetu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B47EC-6D32-44D1-87AC-22B6F507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20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AC2F4-6B47-4AB0-9B3A-342A3DDD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73–76 min</a:t>
            </a:r>
          </a:p>
        </p:txBody>
      </p:sp>
    </p:spTree>
    <p:extLst>
      <p:ext uri="{BB962C8B-B14F-4D97-AF65-F5344CB8AC3E}">
        <p14:creationId xmlns:p14="http://schemas.microsoft.com/office/powerpoint/2010/main" val="2084409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FEC36-7B03-48D4-A7FE-C4C071BE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Podgląd lokalny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2742A-7A46-4694-9B4B-E0260BC8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python -m http.server 8000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--bind 127.0.0.1 --directory outputs/site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http://127.0.0.1:8000/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A7862-84B1-4B87-93C6-F843327A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21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6E61D-08D2-41A4-82F1-3E41D63C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76–79 min</a:t>
            </a:r>
          </a:p>
        </p:txBody>
      </p:sp>
    </p:spTree>
    <p:extLst>
      <p:ext uri="{BB962C8B-B14F-4D97-AF65-F5344CB8AC3E}">
        <p14:creationId xmlns:p14="http://schemas.microsoft.com/office/powerpoint/2010/main" val="5058961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FEB62-EB73-408A-9D77-D5D5E53A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SSH i konta AGH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30FA1-62FA-4951-B797-7658F07E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Student: student.agh.edu.pl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Prowadzący: galaxy.agh.edu.pl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Połączenie z sieci AGH lub przez VPN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7B1E6-1B88-4F5E-8EAE-02A183A2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22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0D5A9-04A4-4ADC-9FC9-B3198AE7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79–82 min</a:t>
            </a:r>
          </a:p>
        </p:txBody>
      </p:sp>
    </p:spTree>
    <p:extLst>
      <p:ext uri="{BB962C8B-B14F-4D97-AF65-F5344CB8AC3E}">
        <p14:creationId xmlns:p14="http://schemas.microsoft.com/office/powerpoint/2010/main" val="21256977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37CF4-A591-4D0D-9380-32528829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SCP i sprawdzenie publikacji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7AB42-2E16-4DB0-A4D4-947627BF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Osobny katalog public_html/landsat-DATA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Przesyłamy całą zawartość outputs/site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Sprawdzamy URL i wszystkie warstwy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69277-17F1-4BC3-9F27-1359E747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23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3902C-84BC-4A60-8EC9-D381DF80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82–85 min</a:t>
            </a:r>
          </a:p>
        </p:txBody>
      </p:sp>
    </p:spTree>
    <p:extLst>
      <p:ext uri="{BB962C8B-B14F-4D97-AF65-F5344CB8AC3E}">
        <p14:creationId xmlns:p14="http://schemas.microsoft.com/office/powerpoint/2010/main" val="4927613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4D059-CB06-4C43-9C93-D069CD74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Laboratorium: 90 minut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280EA-5A15-4863-9101-6F766D2E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0–40 min: dane, CRS i jakość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40–55 min: wskaźniki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55–70 min: mapa lokalna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70–90 min: publikacja i oddanie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C865E-868E-4426-A0F5-1CBF5EEA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24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4D80A-F811-4CEF-B28C-8C7139B8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85–88 min</a:t>
            </a:r>
          </a:p>
        </p:txBody>
      </p:sp>
    </p:spTree>
    <p:extLst>
      <p:ext uri="{BB962C8B-B14F-4D97-AF65-F5344CB8AC3E}">
        <p14:creationId xmlns:p14="http://schemas.microsoft.com/office/powerpoint/2010/main" val="162611149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2B83E-B7B1-4D1D-B796-36EC6120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Pytania sprawdzające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E1461-92C6-43D5-A0A5-4183884D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Dlaczego 0 nie jest NoData?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Czy dodatni NDBI oznacza budynek?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Co trzeba przesłać oprócz index.html?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Czy zoom 17 dodaje szczegóły?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7EC16-60C2-4A1F-ADDD-1952140E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25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1ABBC-3380-47EB-99FF-33DD7E19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88–90 min</a:t>
            </a:r>
          </a:p>
        </p:txBody>
      </p:sp>
    </p:spTree>
    <p:extLst>
      <p:ext uri="{BB962C8B-B14F-4D97-AF65-F5344CB8AC3E}">
        <p14:creationId xmlns:p14="http://schemas.microsoft.com/office/powerpoint/2010/main" val="896930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2026-09-30T16:01:39.3090000Z</dcterms:created>
  <dcterms:modified xsi:type="dcterms:W3CDTF">2026-09-30T16:01:39.3100000Z</dcterms:modified>
</coreProperties>
</file>