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4ae7ba10544e2b" /><Relationship Type="http://schemas.openxmlformats.org/officeDocument/2006/relationships/extended-properties" Target="/docProps/app.xml" Id="R23d9b0b0d3274217" /><Relationship Type="http://schemas.openxmlformats.org/officeDocument/2006/relationships/officeDocument" Target="/ppt/presentation.xml" Id="R52dc753eeec54e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9a75e6a6374807"/>
  </p:sldMasterIdLst>
  <p:notesMasterIdLst>
    <p:notesMasterId xmlns:r="http://schemas.openxmlformats.org/officeDocument/2006/relationships" r:id="Rec76c48b06ac45c6"/>
  </p:notesMasterIdLst>
  <p:sldIdLst>
    <p:sldId xmlns:r="http://schemas.openxmlformats.org/officeDocument/2006/relationships" id="256" r:id="R76b6c65ff73c4a24"/>
    <p:sldId xmlns:r="http://schemas.openxmlformats.org/officeDocument/2006/relationships" id="257" r:id="R55ef55f281d846d6"/>
    <p:sldId xmlns:r="http://schemas.openxmlformats.org/officeDocument/2006/relationships" id="258" r:id="R44f6bf64a5da4771"/>
    <p:sldId xmlns:r="http://schemas.openxmlformats.org/officeDocument/2006/relationships" id="259" r:id="R07fa190d676e4761"/>
    <p:sldId xmlns:r="http://schemas.openxmlformats.org/officeDocument/2006/relationships" id="260" r:id="Rbca1e5cc6ffa4159"/>
    <p:sldId xmlns:r="http://schemas.openxmlformats.org/officeDocument/2006/relationships" id="261" r:id="Rdb748a805463441f"/>
    <p:sldId xmlns:r="http://schemas.openxmlformats.org/officeDocument/2006/relationships" id="262" r:id="R128f2ed4fd034cfb"/>
    <p:sldId xmlns:r="http://schemas.openxmlformats.org/officeDocument/2006/relationships" id="263" r:id="R32f9905d5c6d46e5"/>
    <p:sldId xmlns:r="http://schemas.openxmlformats.org/officeDocument/2006/relationships" id="264" r:id="Rf5707983a54e474b"/>
    <p:sldId xmlns:r="http://schemas.openxmlformats.org/officeDocument/2006/relationships" id="265" r:id="Rb5a3768ccd5c48ed"/>
    <p:sldId xmlns:r="http://schemas.openxmlformats.org/officeDocument/2006/relationships" id="266" r:id="R53dc6f9c7f5c4b87"/>
    <p:sldId xmlns:r="http://schemas.openxmlformats.org/officeDocument/2006/relationships" id="267" r:id="Rcff9b5c7761d4d5b"/>
    <p:sldId xmlns:r="http://schemas.openxmlformats.org/officeDocument/2006/relationships" id="268" r:id="R63d49ba46523470a"/>
    <p:sldId xmlns:r="http://schemas.openxmlformats.org/officeDocument/2006/relationships" id="269" r:id="R829d2b9205b84e36"/>
    <p:sldId xmlns:r="http://schemas.openxmlformats.org/officeDocument/2006/relationships" id="270" r:id="Rb11984ab75d74d84"/>
    <p:sldId xmlns:r="http://schemas.openxmlformats.org/officeDocument/2006/relationships" id="271" r:id="Rc47f4543cb8b45fd"/>
    <p:sldId xmlns:r="http://schemas.openxmlformats.org/officeDocument/2006/relationships" id="272" r:id="R747e449877364e4f"/>
    <p:sldId xmlns:r="http://schemas.openxmlformats.org/officeDocument/2006/relationships" id="273" r:id="R6fb45212905b491f"/>
    <p:sldId xmlns:r="http://schemas.openxmlformats.org/officeDocument/2006/relationships" id="274" r:id="Rad71f9268ee34c21"/>
    <p:sldId xmlns:r="http://schemas.openxmlformats.org/officeDocument/2006/relationships" id="275" r:id="Ra56f23e9a7f2441e"/>
    <p:sldId xmlns:r="http://schemas.openxmlformats.org/officeDocument/2006/relationships" id="276" r:id="R0332af98cc0243e2"/>
    <p:sldId xmlns:r="http://schemas.openxmlformats.org/officeDocument/2006/relationships" id="277" r:id="R00384c4958654b4e"/>
    <p:sldId xmlns:r="http://schemas.openxmlformats.org/officeDocument/2006/relationships" id="278" r:id="Ra9d04744354341f1"/>
    <p:sldId xmlns:r="http://schemas.openxmlformats.org/officeDocument/2006/relationships" id="279" r:id="R1b1de80ecab74de7"/>
    <p:sldId xmlns:r="http://schemas.openxmlformats.org/officeDocument/2006/relationships" id="280" r:id="R1c73592a212d45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eabc379e3e4377" /><Relationship Type="http://schemas.openxmlformats.org/officeDocument/2006/relationships/slideMaster" Target="/ppt/slideMasters/slideMaster1.xml" Id="R409a75e6a6374807" /><Relationship Type="http://schemas.openxmlformats.org/officeDocument/2006/relationships/notesMaster" Target="/ppt/notesMasters/notesMaster1.xml" Id="Rec76c48b06ac45c6" /><Relationship Type="http://schemas.openxmlformats.org/officeDocument/2006/relationships/presProps" Target="/ppt/presProps.xml" Id="R32a4e1fe06914c86" /><Relationship Type="http://schemas.openxmlformats.org/officeDocument/2006/relationships/tableStyles" Target="/ppt/tableStyles.xml" Id="R5dd2aecc94b2406b" /><Relationship Type="http://schemas.openxmlformats.org/officeDocument/2006/relationships/slide" Target="/ppt/slides/slide1.xml" Id="R76b6c65ff73c4a24" /><Relationship Type="http://schemas.openxmlformats.org/officeDocument/2006/relationships/slide" Target="/ppt/slides/slide2.xml" Id="R55ef55f281d846d6" /><Relationship Type="http://schemas.openxmlformats.org/officeDocument/2006/relationships/slide" Target="/ppt/slides/slide3.xml" Id="R44f6bf64a5da4771" /><Relationship Type="http://schemas.openxmlformats.org/officeDocument/2006/relationships/slide" Target="/ppt/slides/slide4.xml" Id="R07fa190d676e4761" /><Relationship Type="http://schemas.openxmlformats.org/officeDocument/2006/relationships/slide" Target="/ppt/slides/slide5.xml" Id="Rbca1e5cc6ffa4159" /><Relationship Type="http://schemas.openxmlformats.org/officeDocument/2006/relationships/slide" Target="/ppt/slides/slide6.xml" Id="Rdb748a805463441f" /><Relationship Type="http://schemas.openxmlformats.org/officeDocument/2006/relationships/slide" Target="/ppt/slides/slide7.xml" Id="R128f2ed4fd034cfb" /><Relationship Type="http://schemas.openxmlformats.org/officeDocument/2006/relationships/slide" Target="/ppt/slides/slide8.xml" Id="R32f9905d5c6d46e5" /><Relationship Type="http://schemas.openxmlformats.org/officeDocument/2006/relationships/slide" Target="/ppt/slides/slide9.xml" Id="Rf5707983a54e474b" /><Relationship Type="http://schemas.openxmlformats.org/officeDocument/2006/relationships/slide" Target="/ppt/slides/slide10.xml" Id="Rb5a3768ccd5c48ed" /><Relationship Type="http://schemas.openxmlformats.org/officeDocument/2006/relationships/slide" Target="/ppt/slides/slide11.xml" Id="R53dc6f9c7f5c4b87" /><Relationship Type="http://schemas.openxmlformats.org/officeDocument/2006/relationships/slide" Target="/ppt/slides/slide12.xml" Id="Rcff9b5c7761d4d5b" /><Relationship Type="http://schemas.openxmlformats.org/officeDocument/2006/relationships/slide" Target="/ppt/slides/slide13.xml" Id="R63d49ba46523470a" /><Relationship Type="http://schemas.openxmlformats.org/officeDocument/2006/relationships/slide" Target="/ppt/slides/slide14.xml" Id="R829d2b9205b84e36" /><Relationship Type="http://schemas.openxmlformats.org/officeDocument/2006/relationships/slide" Target="/ppt/slides/slide15.xml" Id="Rb11984ab75d74d84" /><Relationship Type="http://schemas.openxmlformats.org/officeDocument/2006/relationships/slide" Target="/ppt/slides/slide16.xml" Id="Rc47f4543cb8b45fd" /><Relationship Type="http://schemas.openxmlformats.org/officeDocument/2006/relationships/slide" Target="/ppt/slides/slide17.xml" Id="R747e449877364e4f" /><Relationship Type="http://schemas.openxmlformats.org/officeDocument/2006/relationships/slide" Target="/ppt/slides/slide18.xml" Id="R6fb45212905b491f" /><Relationship Type="http://schemas.openxmlformats.org/officeDocument/2006/relationships/slide" Target="/ppt/slides/slide19.xml" Id="Rad71f9268ee34c21" /><Relationship Type="http://schemas.openxmlformats.org/officeDocument/2006/relationships/slide" Target="/ppt/slides/slide20.xml" Id="Ra56f23e9a7f2441e" /><Relationship Type="http://schemas.openxmlformats.org/officeDocument/2006/relationships/slide" Target="/ppt/slides/slide21.xml" Id="R0332af98cc0243e2" /><Relationship Type="http://schemas.openxmlformats.org/officeDocument/2006/relationships/slide" Target="/ppt/slides/slide22.xml" Id="R00384c4958654b4e" /><Relationship Type="http://schemas.openxmlformats.org/officeDocument/2006/relationships/slide" Target="/ppt/slides/slide23.xml" Id="Ra9d04744354341f1" /><Relationship Type="http://schemas.openxmlformats.org/officeDocument/2006/relationships/slide" Target="/ppt/slides/slide24.xml" Id="R1b1de80ecab74de7" /><Relationship Type="http://schemas.openxmlformats.org/officeDocument/2006/relationships/slide" Target="/ppt/slides/slide25.xml" Id="R1c73592a212d45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55685d97b24e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b4a95b4df743c7" /><Relationship Type="http://schemas.openxmlformats.org/officeDocument/2006/relationships/notesMaster" Target="/ppt/notesMasters/notesMaster1.xml" Id="Rbac83f3ae9144a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dbd654bea84c54" /><Relationship Type="http://schemas.openxmlformats.org/officeDocument/2006/relationships/notesMaster" Target="/ppt/notesMasters/notesMaster1.xml" Id="R333738cb061249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e49307e7a6484b" /><Relationship Type="http://schemas.openxmlformats.org/officeDocument/2006/relationships/notesMaster" Target="/ppt/notesMasters/notesMaster1.xml" Id="R51ef7e227f2f45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d8b967a16d4190" /><Relationship Type="http://schemas.openxmlformats.org/officeDocument/2006/relationships/notesMaster" Target="/ppt/notesMasters/notesMaster1.xml" Id="Rdb8737918ba546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97bf39cbbd47a6" /><Relationship Type="http://schemas.openxmlformats.org/officeDocument/2006/relationships/notesMaster" Target="/ppt/notesMasters/notesMaster1.xml" Id="R88ca0da1dfed42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725e5ea0a34ac3" /><Relationship Type="http://schemas.openxmlformats.org/officeDocument/2006/relationships/notesMaster" Target="/ppt/notesMasters/notesMaster1.xml" Id="R3c83ffee89c145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58f5ed4e3b4302" /><Relationship Type="http://schemas.openxmlformats.org/officeDocument/2006/relationships/notesMaster" Target="/ppt/notesMasters/notesMaster1.xml" Id="R21128dcb1f824e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cd9b3215f74e66" /><Relationship Type="http://schemas.openxmlformats.org/officeDocument/2006/relationships/notesMaster" Target="/ppt/notesMasters/notesMaster1.xml" Id="R830ff62b1ca747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e2aec10d5443b2" /><Relationship Type="http://schemas.openxmlformats.org/officeDocument/2006/relationships/notesMaster" Target="/ppt/notesMasters/notesMaster1.xml" Id="R253fe40f0a9241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10fcd131d24731" /><Relationship Type="http://schemas.openxmlformats.org/officeDocument/2006/relationships/notesMaster" Target="/ppt/notesMasters/notesMaster1.xml" Id="Re852e2a52c5b49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fb281ea7124635" /><Relationship Type="http://schemas.openxmlformats.org/officeDocument/2006/relationships/notesMaster" Target="/ppt/notesMasters/notesMaster1.xml" Id="Rd62a3aa1c9484f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49a78ebb0549aa" /><Relationship Type="http://schemas.openxmlformats.org/officeDocument/2006/relationships/notesMaster" Target="/ppt/notesMasters/notesMaster1.xml" Id="R056200e7b7f445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7a69d26ca447c0" /><Relationship Type="http://schemas.openxmlformats.org/officeDocument/2006/relationships/notesMaster" Target="/ppt/notesMasters/notesMaster1.xml" Id="R45dad7c306cb4e0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bf804553094c50" /><Relationship Type="http://schemas.openxmlformats.org/officeDocument/2006/relationships/notesMaster" Target="/ppt/notesMasters/notesMaster1.xml" Id="Rf9bb92d12bba47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6d2102f15d4da3" /><Relationship Type="http://schemas.openxmlformats.org/officeDocument/2006/relationships/notesMaster" Target="/ppt/notesMasters/notesMaster1.xml" Id="R62c7ef5d5799499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03bd40c8e94f2b" /><Relationship Type="http://schemas.openxmlformats.org/officeDocument/2006/relationships/notesMaster" Target="/ppt/notesMasters/notesMaster1.xml" Id="R7e56cfc2ab3d47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b39998cdb4746d6" /><Relationship Type="http://schemas.openxmlformats.org/officeDocument/2006/relationships/notesMaster" Target="/ppt/notesMasters/notesMaster1.xml" Id="R910763e34f9d4fd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f375e8858c432e" /><Relationship Type="http://schemas.openxmlformats.org/officeDocument/2006/relationships/notesMaster" Target="/ppt/notesMasters/notesMaster1.xml" Id="Reca457f2e0784b3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68827da46f4d3d" /><Relationship Type="http://schemas.openxmlformats.org/officeDocument/2006/relationships/notesMaster" Target="/ppt/notesMasters/notesMaster1.xml" Id="R638ad4ccff12431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d3a03af85aa4128" /><Relationship Type="http://schemas.openxmlformats.org/officeDocument/2006/relationships/notesMaster" Target="/ppt/notesMasters/notesMaster1.xml" Id="R8fdb3064fe6b4bb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fbd63084d0a4239" /><Relationship Type="http://schemas.openxmlformats.org/officeDocument/2006/relationships/notesMaster" Target="/ppt/notesMasters/notesMaster1.xml" Id="Rf256d43a39f94d8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1fd9a8d4d7b46b9" /><Relationship Type="http://schemas.openxmlformats.org/officeDocument/2006/relationships/notesMaster" Target="/ppt/notesMasters/notesMaster1.xml" Id="R0c007c3771a648e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6fe48b9c4f64957" /><Relationship Type="http://schemas.openxmlformats.org/officeDocument/2006/relationships/notesMaster" Target="/ppt/notesMasters/notesMaster1.xml" Id="R9e8ed31e986b47f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923cacc217d423d" /><Relationship Type="http://schemas.openxmlformats.org/officeDocument/2006/relationships/notesMaster" Target="/ppt/notesMasters/notesMaster1.xml" Id="R025f1dc329304a4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f7e0cddcd064b4d" /><Relationship Type="http://schemas.openxmlformats.org/officeDocument/2006/relationships/notesMaster" Target="/ppt/notesMasters/notesMaster1.xml" Id="Rcb58aa8cdcfb45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2 min (0–2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Przedstaw efekt zajęć: obliczenia w Pythonie i mapa na koncie AGH. Zapowiedz, że to analiza wskaźników, nie model uczenia maszynowego. Uczestnicy powinni znać podstawy tablic NumPy. IBIS pozostaje poza zakresem.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5 min (2–7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Otwórz przygotowaną stronę lokalnie. Przełącz cztery warstwy, pokaż legendę i przezroczystość. Wyjaśnij, że notatnik odtwarza te same wyniki. Zapytaj studentów, czy sam kolor mapy wystarczy do określenia pokrycia terenu. Zarezerwuj dwie minuty na odpowiedzi.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(7–11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nazwy plików. Zwróć uwagę na sr_band i identyfikator L1TP w nazwie sceny. Dane zostały wycięte prostokątem bez resamplingu. XML opisuje pełną scenę, ale georeferencję wycinka czytamy z TIFF. Nie pobieramy archiwalnej Collection 1 na zajęciach, ponieważ używamy dostarczonych danych.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(11–15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Powiąż kanały z RGB i wzorami wskaźników. Zapytaj, dlaczego RGB nie pokazuje wszystkiego, co rejestruje satelita. Nie myl numeracji pasm Landsat 8 z Landsat 5. Kanał B5 jest bliską podczerwienią, nie kanałem termalnym.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(15–19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znaczenie CRS i transformacji afinicznej. Jeden piksel ma 30 m. Przypisanie CRS to interpretacja istniejących liczb, reprojekcja to przeliczenie. Brak PRJ w oryginale został jawnie uzupełniony na podstawie zgodności ze starymi rastrami clipped; nie przedstawiaj tej granicy jako zweryfikowanej urzędowej geometrii.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(19–23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prostokątny obraz B5. Omów odczyt tylko niezbędnej części sceny. Następnie transform_geom przelicza granicę, a geometry_mask tworzy maskę środków pikseli. Zmiana all_touched może zmienić liczbę pikseli na granicy.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(23–27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Przelicz przykład na tablicy. W tej scenie add_offset nie występuje, więc przyjmujemy 0. C2 ma inne parametry, w tym offset. Nie opisuj 10000 jako maksimum wszystkich pikseli. XML dopuszcza wartości ujemne. Zapytaj, kiedy wspólna skala skraca się w ilorazie i dlaczego offset już się nie skraca.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ESPA XML; https://www.usgs.gov/faqs/how-do-i-use-a-scale-factor-landsat-level-2-science-products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5 min (27–32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flagi fill, cień, śnieg, chmury, przesłonięcie terenu i wysoką pewność cirrus. Wskaż osobną kontrolę nasycenia B2–B6. Odrzucono 98 pikseli w granicy, więc obraz jest prawie cały zielony. Białe tło oznacza obszar poza granicą. Poproś o rozkodowanie wartości 4 jako bitu wody.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Bity pixel_qa i radsat_qa w dołączonym ESPA XML; outputs/summary.json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(32–36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Porównaj obraz po maskowaniu z poprzednim. Wyjaśnij różnicę między zerową reflektancją a brakiem danych. Znormalizowana różnica równych niezerowych kanałów daje zero. Dwa zera dają wynik nieokreślony. W kodzie granica bezpiecznego mianownika to 1e-6.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(36–40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Wskaż widoczne struktury pól, lasów i zabudowy. Rozciągnięcie kontrastu dotyczy tylko wyświetlania, osobno dla każdego kanału. Nie używamy tak zmodyfikowanych wartości do obliczeń wskaźników. Podkład internetowy może pokazywać nowszy stan terenu niż scena.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(40–44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Przykłady są dydaktyczne, nie są zmierzonymi pikselami mapy. Poproś studentów o obliczenie wyniku dla odwróconej pary 0.2 i 0.6. Wynik -0.5 pozostaje poprawny. Przy ujemnych wejściach iloraz może wyjść poza [-1,1]. Kod nie obcina wyników analitycznych.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(44–48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przestrzenny rozkład wysokich wartości. Zapytaj, czy każdy zielony piksel jest lasem. Wysoki NDVI nie identyfikuje gatunku ani nie jest samodzielną diagnozą zdrowia. Wskaż trzy piksele spoza [-1,1] w raporcie; na mapie kolor ograniczono, ale wartości GeoTIFF zachowano.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outputs/summary.json; https://www.usgs.gov/landsat-missions/landsat-normalized-difference-vegetation-index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(48–52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Omów możliwość pomylenia odsłoniętej gleby z zabudową. Średnia wynosi -0.1905 i nie opisuje sama w sobie urbanizacji regionu. Przykład na tablicy: 0.35 i 0.20 daje około 0.273. Nie zakładaj, że każdy dodatni piksel jest budynkiem.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Zha, Gao, Ni (2003), DOI 10.1080/01431160210144570; outputs/summary.json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(52–56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korektę nazewnictwa starego kodu: B3/B6 odpowiada MNDWI. Zaproponuj odszukanie rzeki i porównanie z RGB. Wąskie cieki mogą dawać piksele mieszane przy 30 m. Dodatni wynik nie zastępuje weryfikacji terenowej.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Xu (2006), DOI 10.1080/01431160600589179; dane projektu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(56–60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edytowalny wykres średnich z summary.json. Uczestnicy powinni równolegle zajrzeć do histogramów w notatniku/PDF. Zwróć uwagę na różne znaczenia poszczególnych indeksów: porównanie wysokości słupków nie oznacza rankingu jakości. Średnie dotyczą wyłącznie ważnych pikseli.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(60–63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Poproś o dwa przykłady błędnych wniosków: aktualna powierzchnia zabudowy z dawnej sceny i utożsamienie NDBI&gt;0 z budynkami. Wskaż znaczenie walidacji niezależnymi danymi. Temat MODIS można zasygnalizować jako dalszą analizę czasową, bez dodawania ćwiczenia do tego laboratorium.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(63–66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pliki NDVI.tif i NDVI_display.tif. Ten drugi zapisuje kolory, nie NDVI. Omów test allclose z equal_nan=True oraz sprawdzenie CRS i transformacji. Student powinien rozumieć, dlaczego screenshot mapy nie zastępuje danych.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(66–69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wspólny zakres legendy. Dwie mapy z automatycznym min/max mogą wyglądać podobnie mimo różnych wartości. Przedstaw przykład NDVI 1.0062: numerycznie pozostaje w TIFF, a na mapie dostaje skrajny kolor. Odróżnij alfa od globalnej przezroczystości suwaka.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(69–73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Omów piramidę zoomów i wpływ maksymalnego zoomu na liczbę plików. Pomieszanie XYZ z TMS odwraca indeks y. Reprojekcja odbywa się w Pythonie przez Rasterio. Nie zwiększamy informacyjnej rozdzielczości obrazu, kiedy użytkownik powiększa kafelki do zoomu 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Kod xyz_tiles; https://rasterio.readthedocs.io/en/stable/topics/reproject.html; https://leafletjs.com/reference.html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(73–76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Przeprowadź krótką demonstrację strony. Nie trzeba instalować Pythona na serwerze AGH, ponieważ przesyłamy statyczne pliki. Bibliotekę Leaflet dołączono lokalnie. Zachowujemy informacje o autorstwie podkładu. Sama publikacja HTML bez tiles prowadzi do pustej mapy.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(76–79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Dwie pierwsze linie na slajdzie stanowią jedno polecenie. W Markdown jest gotowy blok do skopiowania. Wyjaśnij, dlaczego nie używać file:// i że serwer pozostaje zajęty do Ctrl+C. Drugie okno terminala służy do SSH/SCP. Przy zajętym porcie wybieramy 8001.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(79–82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rozdział hosta SSH i WWW. Dla galaxy WWW to home.agh.edu.pl/~login. Strony studentów są dostępne w sieci AGH/VPN. Używamy loginu UNIX bez sufiksu @student. Pierwsze połączenie wymaga sprawdzenia klucza serwera. Nie zapisujemy haseł w notatniku.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https://cri.agh.edu.pl/uslugi/konta-unix, sprawdzono 30.09.2026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(82–85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polecenie scp -r outputs/site/. i składnię login@host:ścieżka. Nowy katalog chroni istniejącą stronę główną. Uprawnienia katalogów 755, plików 644. HTTP 200 dla index.html nie dowodzi poprawnego przesłania kafelków. Pełne polecenia są w notatniku, PDF i Markdown.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(85–88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Przypomnij konieczność przygotowania środowiska przed zajęciami. Każdy student ma uruchomić notatnik i zrozumieć najważniejszy fragment np.divide. Modyfikacja progu NDVI jest krótkim eksperymentem. Rezultat: URL, notatnik, trzy wnioski. Gdy konto nie działa, zachowujemy paczkę strony, ale nie udajemy publikacji.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2 min (88–90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Odpowiedzi: zero może być ważną wartością; dodatni NDBI może oznaczać glebę; potrzebne są tiles, vendor i pliki danych strony; powiększenie nie zmienia rozdzielczości źródłowej. Zakończ wskazaniem konspektu i notatnika. Źródła naukowe oraz dokumentacja znajdują się w końcowej części PDF i notatnika.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c4d8f5e7d47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bfe598fc464e10" /><Relationship Type="http://schemas.openxmlformats.org/officeDocument/2006/relationships/slideLayout" Target="/ppt/slideLayouts/slideLayout1.xml" Id="R0aff7deba41c45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ff7deba41c45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935c4e41b426b" /><Relationship Type="http://schemas.openxmlformats.org/officeDocument/2006/relationships/notesSlide" Target="/ppt/notesSlides/notesSlide1.xml" Id="R57eadbeeccb949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aaa75dbf74fc1" /><Relationship Type="http://schemas.openxmlformats.org/officeDocument/2006/relationships/notesSlide" Target="/ppt/notesSlides/notesSlide2.xml" Id="Rebbd3ffdbda84b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4e19b44c24410" /><Relationship Type="http://schemas.openxmlformats.org/officeDocument/2006/relationships/notesSlide" Target="/ppt/notesSlides/notesSlide3.xml" Id="Rc555ab7b684342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4fe07c2544568" /><Relationship Type="http://schemas.openxmlformats.org/officeDocument/2006/relationships/notesSlide" Target="/ppt/notesSlides/notesSlide4.xml" Id="R4d27361d201b46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447f0d25146e4" /><Relationship Type="http://schemas.openxmlformats.org/officeDocument/2006/relationships/notesSlide" Target="/ppt/notesSlides/notesSlide5.xml" Id="Ra301c01e100347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6aa9019714fc8" /><Relationship Type="http://schemas.openxmlformats.org/officeDocument/2006/relationships/image" Target="/ppt/media/image.png" Id="R2a611c802cc04be2" /><Relationship Type="http://schemas.openxmlformats.org/officeDocument/2006/relationships/notesSlide" Target="/ppt/notesSlides/notesSlide6.xml" Id="R05793f8bccd245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7adb3b18c49c5" /><Relationship Type="http://schemas.openxmlformats.org/officeDocument/2006/relationships/notesSlide" Target="/ppt/notesSlides/notesSlide7.xml" Id="R8f13ca34c8c54f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35f59a7244844" /><Relationship Type="http://schemas.openxmlformats.org/officeDocument/2006/relationships/image" Target="/ppt/media/image2.png" Id="R749fae0701c940f4" /><Relationship Type="http://schemas.openxmlformats.org/officeDocument/2006/relationships/notesSlide" Target="/ppt/notesSlides/notesSlide8.xml" Id="R187c3c08d8934e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7227db7084d5f" /><Relationship Type="http://schemas.openxmlformats.org/officeDocument/2006/relationships/image" Target="/ppt/media/image3.png" Id="Reb06bd465a754804" /><Relationship Type="http://schemas.openxmlformats.org/officeDocument/2006/relationships/notesSlide" Target="/ppt/notesSlides/notesSlide9.xml" Id="R109599a4927946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da456fd6d4c8b" /><Relationship Type="http://schemas.openxmlformats.org/officeDocument/2006/relationships/image" Target="/ppt/media/image4.png" Id="Rff063039be1f45d4" /><Relationship Type="http://schemas.openxmlformats.org/officeDocument/2006/relationships/notesSlide" Target="/ppt/notesSlides/notesSlide10.xml" Id="Rf0452064400f42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50884abb041a7" /><Relationship Type="http://schemas.openxmlformats.org/officeDocument/2006/relationships/notesSlide" Target="/ppt/notesSlides/notesSlide11.xml" Id="Rfffe0da5767942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d348d13b14470" /><Relationship Type="http://schemas.openxmlformats.org/officeDocument/2006/relationships/image" Target="/ppt/media/image5.png" Id="R48b42ab2dda0418d" /><Relationship Type="http://schemas.openxmlformats.org/officeDocument/2006/relationships/notesSlide" Target="/ppt/notesSlides/notesSlide12.xml" Id="R0012eb04fa3244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d62228f684034" /><Relationship Type="http://schemas.openxmlformats.org/officeDocument/2006/relationships/image" Target="/ppt/media/image6.png" Id="Re224e702c89448d3" /><Relationship Type="http://schemas.openxmlformats.org/officeDocument/2006/relationships/notesSlide" Target="/ppt/notesSlides/notesSlide13.xml" Id="Rcc20d71a9ce642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b37d94f854fe9" /><Relationship Type="http://schemas.openxmlformats.org/officeDocument/2006/relationships/image" Target="/ppt/media/image7.png" Id="Re8b3d40380eb4160" /><Relationship Type="http://schemas.openxmlformats.org/officeDocument/2006/relationships/notesSlide" Target="/ppt/notesSlides/notesSlide14.xml" Id="R470e93c7b7bb4f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3f5c1bf6d46c6" /><Relationship Type="http://schemas.openxmlformats.org/officeDocument/2006/relationships/chart" Target="/ppt/slides/charts/chart1.xml" Id="R910408a79fcb4b42" /><Relationship Type="http://schemas.openxmlformats.org/officeDocument/2006/relationships/notesSlide" Target="/ppt/notesSlides/notesSlide15.xml" Id="R8bac47d1abc441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5f302f62a4e2f" /><Relationship Type="http://schemas.openxmlformats.org/officeDocument/2006/relationships/notesSlide" Target="/ppt/notesSlides/notesSlide16.xml" Id="R0646e57fc14845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cfc10a95b44aa" /><Relationship Type="http://schemas.openxmlformats.org/officeDocument/2006/relationships/notesSlide" Target="/ppt/notesSlides/notesSlide17.xml" Id="R8617d6196cd54f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fe90b4c974b3e" /><Relationship Type="http://schemas.openxmlformats.org/officeDocument/2006/relationships/notesSlide" Target="/ppt/notesSlides/notesSlide18.xml" Id="R291b9acd8c3945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f82edf363401a" /><Relationship Type="http://schemas.openxmlformats.org/officeDocument/2006/relationships/notesSlide" Target="/ppt/notesSlides/notesSlide19.xml" Id="Rb102a6d4c99b4e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6040635e54ea2" /><Relationship Type="http://schemas.openxmlformats.org/officeDocument/2006/relationships/image" Target="/ppt/media/image8.png" Id="Rbc018287ebc24b42" /><Relationship Type="http://schemas.openxmlformats.org/officeDocument/2006/relationships/notesSlide" Target="/ppt/notesSlides/notesSlide20.xml" Id="Rdd4fd66b3a53400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6ff1e79da4e9f" /><Relationship Type="http://schemas.openxmlformats.org/officeDocument/2006/relationships/notesSlide" Target="/ppt/notesSlides/notesSlide21.xml" Id="R3518c2fcf4ad462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a89c4f4684e5d" /><Relationship Type="http://schemas.openxmlformats.org/officeDocument/2006/relationships/notesSlide" Target="/ppt/notesSlides/notesSlide22.xml" Id="R3599dc002e5a47c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5180cc4de46cc" /><Relationship Type="http://schemas.openxmlformats.org/officeDocument/2006/relationships/notesSlide" Target="/ppt/notesSlides/notesSlide23.xml" Id="Ra793493608a948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a72e6fe3b4cec" /><Relationship Type="http://schemas.openxmlformats.org/officeDocument/2006/relationships/notesSlide" Target="/ppt/notesSlides/notesSlide24.xml" Id="R427f913bc943497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74be120a24c56" /><Relationship Type="http://schemas.openxmlformats.org/officeDocument/2006/relationships/notesSlide" Target="/ppt/notesSlides/notesSlide25.xml" Id="Rd05a762ce53c43b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Średnia</c:v>
          </c:tx>
          <c:spPr>
            <a:solidFill xmlns:a="http://schemas.openxmlformats.org/drawingml/2006/main">
              <a:srgbClr val="147F82"/>
            </a:solidFill>
          </c:spPr>
          <c:invertIfNegative val="0"/>
          <c:cat>
            <c:strLit>
              <c:ptCount val="3"/>
              <c:pt idx="0">
                <c:v>NDVI</c:v>
              </c:pt>
              <c:pt idx="1">
                <c:v>NDBI</c:v>
              </c:pt>
              <c:pt idx="2">
                <c:v>MNDWI</c:v>
              </c:pt>
            </c:strLit>
          </c:cat>
          <c:val>
            <c:numLit>
              <c:formatCode>0.0</c:formatCode>
              <c:ptCount val="3"/>
              <c:pt idx="0">
                <c:v>0.6179</c:v>
              </c:pt>
              <c:pt idx="1">
                <c:v>-0.1905</c:v>
              </c:pt>
              <c:pt idx="2">
                <c:v>-0.4896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-1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AF0EE-2C19-4B7C-96D7-49F8147A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Landsat 8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Analiza i publikacja mapy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76D90-D275-47F8-AF11-CB452496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EDEE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DEE0"/>
                </a:solidFill>
                <a:latin typeface="Arial"/>
                <a:ea typeface="Arial"/>
                <a:cs typeface="Arial"/>
              </a:rPr>
              <a:t>Wykład 90 minut</a:t>
            </a:r>
          </a:p>
          <a:p xmlns:a="http://schemas.openxmlformats.org/drawingml/2006/main">
            <a:pPr>
              <a:defRPr sz="2250" b="0">
                <a:solidFill>
                  <a:srgbClr val="BEDEE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DEE0"/>
                </a:solidFill>
                <a:latin typeface="Arial"/>
                <a:ea typeface="Arial"/>
                <a:cs typeface="Arial"/>
              </a:rPr>
              <a:t>Laboratorium 90 minut</a:t>
            </a:r>
          </a:p>
          <a:p xmlns:a="http://schemas.openxmlformats.org/drawingml/2006/main">
            <a:pPr>
              <a:defRPr sz="2250" b="0">
                <a:solidFill>
                  <a:srgbClr val="BEDEE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DEE0"/>
                </a:solidFill>
                <a:latin typeface="Arial"/>
                <a:ea typeface="Arial"/>
                <a:cs typeface="Arial"/>
              </a:rPr>
              <a:t>Kraków i okolice, 7 sierpnia 2013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7ACD7-B51C-4E47-929D-6097D1A7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01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567DA-CC64-410C-A9DF-6D31F647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0–2 min</a:t>
            </a:r>
          </a:p>
        </p:txBody>
      </p:sp>
    </p:spTree>
    <p:extLst>
      <p:ext uri="{BB962C8B-B14F-4D97-AF65-F5344CB8AC3E}">
        <p14:creationId xmlns:p14="http://schemas.microsoft.com/office/powerpoint/2010/main" val="9658874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21D02-8FE2-44B6-8D67-9875A73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Efekt końcowy ćwiczenia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C8AF1-C8CB-47E3-925F-5D9FC8F5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NDVI, NDBI i MNDWI w jednej mapie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GeoTIFF do dalszej analizy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Publikacja na koncie UNIX AGH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33EF2-1BE2-4366-8560-ABD0A13C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02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3F717-A04A-4197-A722-32069DAA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2–7 min</a:t>
            </a:r>
          </a:p>
        </p:txBody>
      </p:sp>
    </p:spTree>
    <p:extLst>
      <p:ext uri="{BB962C8B-B14F-4D97-AF65-F5344CB8AC3E}">
        <p14:creationId xmlns:p14="http://schemas.microsoft.com/office/powerpoint/2010/main" val="11787474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8E650-B6D6-46BE-9035-13BE0E98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Scena i paczka danych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9AF41-7677-463B-B1E1-40ED194F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2013-08-07, Collection 1 Surface Reflectance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1583 × 1982 piksele, rozdzielczość 30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B2–B6, pixel_qa, radsat_qa i XML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EB033-FC73-45D6-8FCF-A05C46A5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03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D0969-C3DD-4126-98A9-2DAF4707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7–11 min</a:t>
            </a:r>
          </a:p>
        </p:txBody>
      </p:sp>
    </p:spTree>
    <p:extLst>
      <p:ext uri="{BB962C8B-B14F-4D97-AF65-F5344CB8AC3E}">
        <p14:creationId xmlns:p14="http://schemas.microsoft.com/office/powerpoint/2010/main" val="20396093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60F6D-EB82-4699-8581-4734D152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Kanały użyte w ćwiczeniu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EE376-F2E0-4930-A4B4-643A8945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B2  niebieski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40F07-4C26-4D1A-8190-8039C54D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B3  zielony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2B693-56C4-4F45-AAA2-C05190C7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B4  czerwony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82C62-A476-4086-9877-7D9140DF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B5  NIR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8D91D-B159-42B1-9C9B-A508DC92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B6  SWIR1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7B57B-85AC-4BCC-A438-EF79CE92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04  /  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ECD82-673E-4937-9F91-28CA4C6D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11–15 min</a:t>
            </a:r>
          </a:p>
        </p:txBody>
      </p:sp>
    </p:spTree>
    <p:extLst>
      <p:ext uri="{BB962C8B-B14F-4D97-AF65-F5344CB8AC3E}">
        <p14:creationId xmlns:p14="http://schemas.microsoft.com/office/powerpoint/2010/main" val="12600240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D8EA1-AC24-4B2D-8EBB-C3F6B32E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Georeferencja rastra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AB474-7DAB-4F25-9A48-5B9572CA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EPSG:32634: metry w układzie UTM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Transformacja wiąże wiersz i kolumnę z położeniem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GeoJSON granicy: EPSG:4326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D35FE-F3B2-4107-8303-8CC7FA02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05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19688-6F45-4C8A-8049-B66B60EB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15–19 min</a:t>
            </a:r>
          </a:p>
        </p:txBody>
      </p:sp>
    </p:spTree>
    <p:extLst>
      <p:ext uri="{BB962C8B-B14F-4D97-AF65-F5344CB8AC3E}">
        <p14:creationId xmlns:p14="http://schemas.microsoft.com/office/powerpoint/2010/main" val="8818130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55D2A-7225-4EA2-B231-2225C0DC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Przycięcie do granicy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30307-28F9-44CE-93A2-F715B624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Prostokąt ogranicza koszt odczytu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Maska wielokąta wyznacza obszar analizy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Poza granicą zapisujemy brak danych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11c802cc04be2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AFD40-DDF5-4F94-B843-0B038CE3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06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A1128-DAEE-41D8-AA0D-0375FCD3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19–23 min</a:t>
            </a:r>
          </a:p>
        </p:txBody>
      </p:sp>
    </p:spTree>
    <p:extLst>
      <p:ext uri="{BB962C8B-B14F-4D97-AF65-F5344CB8AC3E}">
        <p14:creationId xmlns:p14="http://schemas.microsoft.com/office/powerpoint/2010/main" val="2940313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3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D9CC1-5115-41D6-9396-85677B4F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Skalowanie reflektancji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511D8-5D65-432D-990E-885994A9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ρ = DN × skala + offset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6000 × 0.0001 = 0.6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Parametry pochodzą z XML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0E204-F725-4E30-8C4F-D2BE0BD9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07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133D1-106F-410F-94D2-043C54A5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23–27 min</a:t>
            </a:r>
          </a:p>
        </p:txBody>
      </p:sp>
    </p:spTree>
    <p:extLst>
      <p:ext uri="{BB962C8B-B14F-4D97-AF65-F5344CB8AC3E}">
        <p14:creationId xmlns:p14="http://schemas.microsoft.com/office/powerpoint/2010/main" val="11875818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BC398-02E2-436A-9F36-0B76D42C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Maska jakości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0715D-8297-424A-AC3D-59E2791A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 granicy: 1 729 364 pikseli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Ważne: 1 729 266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Woda pozostaje w analizie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fae0701c940f4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F6C90-3937-48C2-91D8-F1AB6BD9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08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D392A-D191-43D0-BB35-783196AB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27–32 min</a:t>
            </a:r>
          </a:p>
        </p:txBody>
      </p:sp>
    </p:spTree>
    <p:extLst>
      <p:ext uri="{BB962C8B-B14F-4D97-AF65-F5344CB8AC3E}">
        <p14:creationId xmlns:p14="http://schemas.microsoft.com/office/powerpoint/2010/main" val="19030065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7AD0A-4A77-4450-86D2-C95CC854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Zero, wartość ujemna i NoData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069D2-C3B3-4BA6-B18A-5A27EBDA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0 może być poprawną obserwacją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NaN oznacza brak ważnego wyniku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Mianownik bliski zeru wymaga maski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6bd465a754804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A9204-A7FA-43A3-87A3-41F16B85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09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93EA3-2D30-4773-9029-8391DA0F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32–36 min</a:t>
            </a:r>
          </a:p>
        </p:txBody>
      </p:sp>
    </p:spTree>
    <p:extLst>
      <p:ext uri="{BB962C8B-B14F-4D97-AF65-F5344CB8AC3E}">
        <p14:creationId xmlns:p14="http://schemas.microsoft.com/office/powerpoint/2010/main" val="5619487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4C1D6-DD1E-4C32-AB61-8716CD25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RGB jako odniesienie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735F1-881F-46F7-9225-0F5E59CD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Kanały 4 / 3 /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Kontrast 2–98 percentyl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Obraz pomaga interpretować wskaźniki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63039be1f45d4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9C15C-BB48-49AD-B549-7FC32135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10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5DBDA-7C90-483D-BCF4-EA4B2D31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36–40 min</a:t>
            </a:r>
          </a:p>
        </p:txBody>
      </p:sp>
    </p:spTree>
    <p:extLst>
      <p:ext uri="{BB962C8B-B14F-4D97-AF65-F5344CB8AC3E}">
        <p14:creationId xmlns:p14="http://schemas.microsoft.com/office/powerpoint/2010/main" val="5858779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3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2B3D9-5155-4D75-B4A0-AE8F6FE8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Znormalizowana różnica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967A3-CBEF-4144-889C-5828384A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 = (A − B) / (A + B)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= 0.6, B = 0.2: I = 0.5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= B ≠ 0: I = 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ED816-AAF8-4829-824C-7F8C7F2B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11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9D908-4713-4976-A0B7-1EA38E32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40–44 min</a:t>
            </a:r>
          </a:p>
        </p:txBody>
      </p:sp>
    </p:spTree>
    <p:extLst>
      <p:ext uri="{BB962C8B-B14F-4D97-AF65-F5344CB8AC3E}">
        <p14:creationId xmlns:p14="http://schemas.microsoft.com/office/powerpoint/2010/main" val="6680202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0FBED-74DD-4D28-91C7-A3DF2070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NDVI: roślinność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33787-014C-4D47-89D4-EE140765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NDVI = (B5 − B4) / (B5 + B4)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Średnia w obszarze: 0.618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Interpretacja zależy od daty i pokrycia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42ab2dda0418d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AF530-971A-4F69-B5D8-489C99BF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12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43741-ED8E-4793-BD57-EFE87A8E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44–48 min</a:t>
            </a:r>
          </a:p>
        </p:txBody>
      </p:sp>
    </p:spTree>
    <p:extLst>
      <p:ext uri="{BB962C8B-B14F-4D97-AF65-F5344CB8AC3E}">
        <p14:creationId xmlns:p14="http://schemas.microsoft.com/office/powerpoint/2010/main" val="5574723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173D0-B4EF-4DCB-A716-180D6FA7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NDBI: zabudowa i gleba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E27D2-EE5F-41D1-B072-078C49FA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NDBI = (B6 − B5) / (B6 + B5)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Dodatni wynik wymaga sprawdzenia RGB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Próg nie jest gotową klasyfikacją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4e702c89448d3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5536D-A5B0-4373-8A8F-FAF06A79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13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12F97-5648-48E9-AE25-06114C50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48–52 min</a:t>
            </a:r>
          </a:p>
        </p:txBody>
      </p:sp>
    </p:spTree>
    <p:extLst>
      <p:ext uri="{BB962C8B-B14F-4D97-AF65-F5344CB8AC3E}">
        <p14:creationId xmlns:p14="http://schemas.microsoft.com/office/powerpoint/2010/main" val="7183284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6B750-17AB-436F-84BB-2FD92C08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MNDWI: wody powierzchniowe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D872F-9476-4016-AE56-4665EE71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MNDWI = (B3 − B6) / (B3 + B6)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Kanał zielony i SWIR1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NDWI McFeetersa używa zielonego i NIR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3d40380eb4160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83E55-F440-4F60-9A38-0F6552F1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14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8569C-0FB7-42B2-94FB-1E88E172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52–56 min</a:t>
            </a:r>
          </a:p>
        </p:txBody>
      </p:sp>
    </p:spTree>
    <p:extLst>
      <p:ext uri="{BB962C8B-B14F-4D97-AF65-F5344CB8AC3E}">
        <p14:creationId xmlns:p14="http://schemas.microsoft.com/office/powerpoint/2010/main" val="553098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6A57B-B323-498A-BB0F-84B688DE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Statystyki tego samego obszaru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C101B-BC7F-4FAB-B098-7DC445F0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000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NDVI: 0.6179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NDBI: −0.1905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MNDWI: −0.4896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Wspólna maska: 1 729 266 pikseli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5048250" y="1524000"/>
          <a:ext xmlns:a="http://schemas.openxmlformats.org/drawingml/2006/main" cx="6572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0408a79fcb4b4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222A7-CF1A-4087-871E-5B51717D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15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1C3A5-E8F5-42F0-9FD5-4CD2DB1D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56–60 min</a:t>
            </a:r>
          </a:p>
        </p:txBody>
      </p:sp>
    </p:spTree>
    <p:extLst>
      <p:ext uri="{BB962C8B-B14F-4D97-AF65-F5344CB8AC3E}">
        <p14:creationId xmlns:p14="http://schemas.microsoft.com/office/powerpoint/2010/main" val="17567624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8D8CB-C5B5-4AEC-9AEF-5B355155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Ograniczenia interpretacji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B137F-CB81-4D22-9FD7-AA9553F0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Scena przedstawia 2013 rok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Piksele 30 m mogą mieszać różne obiekty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Maska QA nie usuwa każdej niepewności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Wskaźnik nie jest etykietą klasy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61540-8FA0-489A-AD19-55260141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16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6F436-372B-403E-AD6B-EAF35FCA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60–63 min</a:t>
            </a:r>
          </a:p>
        </p:txBody>
      </p:sp>
    </p:spTree>
    <p:extLst>
      <p:ext uri="{BB962C8B-B14F-4D97-AF65-F5344CB8AC3E}">
        <p14:creationId xmlns:p14="http://schemas.microsoft.com/office/powerpoint/2010/main" val="7710150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4E2D7-45D1-44A1-92C9-4D68A5C9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GeoTIFF do dalszych obliczeń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9D2EB-5BF2-4EBC-AC7D-67F80517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float32 i NoData = −9999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CRS i transformacja z wejścia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Odczyt kontrolny sprawdza wartości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D232D-7F79-4AE5-BE1A-C0CEFDD8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17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54D6D-9D44-49AD-8C21-926CA330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63–66 min</a:t>
            </a:r>
          </a:p>
        </p:txBody>
      </p:sp>
    </p:spTree>
    <p:extLst>
      <p:ext uri="{BB962C8B-B14F-4D97-AF65-F5344CB8AC3E}">
        <p14:creationId xmlns:p14="http://schemas.microsoft.com/office/powerpoint/2010/main" val="18669444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23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7D866-74D7-4DA7-9821-0B45EDDF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Kolor i przezroczystość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86818-F049-4A1E-928E-BDA10E81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Zakres legendy: −1 do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RGBA: kolor oraz kanał alfa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Brak danych pozostaje przezroczysty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D98B2-D426-4B67-B1E8-57E77AF5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18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A87BC-6A9E-482E-BCDB-E3A0C53B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66–69 min</a:t>
            </a:r>
          </a:p>
        </p:txBody>
      </p:sp>
    </p:spTree>
    <p:extLst>
      <p:ext uri="{BB962C8B-B14F-4D97-AF65-F5344CB8AC3E}">
        <p14:creationId xmlns:p14="http://schemas.microsoft.com/office/powerpoint/2010/main" val="2881857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51C55-ADE0-44A5-AB53-6162FCB9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Kafelki XYZ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050EE-9465-4B08-BE24-4A5D0F0A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256 × 256 pikseli, EPSG:3857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z / x / y.png, y rośnie na południe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Zoom 9–12: 512 plików dla czterech warstw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29FBF-4564-4EFA-B3F4-1A762BD4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19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C9B05-E175-4747-B326-DF0BFCC2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69–73 min</a:t>
            </a:r>
          </a:p>
        </p:txBody>
      </p:sp>
    </p:spTree>
    <p:extLst>
      <p:ext uri="{BB962C8B-B14F-4D97-AF65-F5344CB8AC3E}">
        <p14:creationId xmlns:p14="http://schemas.microsoft.com/office/powerpoint/2010/main" val="9093124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77656-01E2-44A5-AA3F-76EC9FF1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Kompletna mapa WWW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3C48F-8313-4ED0-84AC-5643D3B2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index.html oraz katalogi tiles i vendor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Wybór warstwy, legenda i przezroczystość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Podkład OpenStreetMap wymaga internetu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18287ebc24b42"/>
          <a:stretch xmlns:a="http://schemas.openxmlformats.org/drawingml/2006/main"/>
        </p:blipFill>
        <p:spPr>
          <a:xfrm xmlns:a="http://schemas.openxmlformats.org/drawingml/2006/main">
            <a:off x="4819650" y="1551252"/>
            <a:ext cx="6934200" cy="457464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AE46A-87D6-4164-A469-3BA8E089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20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3A973-8DE1-4E09-861F-BBDDBE03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73–76 min</a:t>
            </a:r>
          </a:p>
        </p:txBody>
      </p:sp>
    </p:spTree>
    <p:extLst>
      <p:ext uri="{BB962C8B-B14F-4D97-AF65-F5344CB8AC3E}">
        <p14:creationId xmlns:p14="http://schemas.microsoft.com/office/powerpoint/2010/main" val="1134172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9B732-5AA0-49F8-90B9-7848DC41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Podgląd lokalny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278A5-D698-4854-86B3-AEB3B8E0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python -m http.server 8000 \</a:t>
            </a:r>
          </a:p>
          <a:p xmlns:a="http://schemas.openxmlformats.org/drawingml/2006/main">
            <a:pPr>
              <a:defRPr sz="26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  --bind 127.0.0.1 \</a:t>
            </a:r>
          </a:p>
          <a:p xmlns:a="http://schemas.openxmlformats.org/drawingml/2006/main">
            <a:pPr>
              <a:defRPr sz="26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  --directory outputs/site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http://127.0.0.1:8000/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7306E-1EF9-4265-B260-E487A134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21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AB805-F1CC-4372-836D-A9BFDCA9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76–79 min</a:t>
            </a:r>
          </a:p>
        </p:txBody>
      </p:sp>
    </p:spTree>
    <p:extLst>
      <p:ext uri="{BB962C8B-B14F-4D97-AF65-F5344CB8AC3E}">
        <p14:creationId xmlns:p14="http://schemas.microsoft.com/office/powerpoint/2010/main" val="19217703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F99EB-47EE-4196-BDB0-1A209B1A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SSH i konta AGH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F99BF-7163-4E5E-97B6-5D94C7DB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Student: student.agh.edu.pl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Prowadzący: galaxy.agh.edu.pl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Połączenie z sieci AGH lub przez VPN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18791-ABB2-421F-8704-3896F940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22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C247F-2274-423A-922F-4414C584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79–82 min</a:t>
            </a:r>
          </a:p>
        </p:txBody>
      </p:sp>
    </p:spTree>
    <p:extLst>
      <p:ext uri="{BB962C8B-B14F-4D97-AF65-F5344CB8AC3E}">
        <p14:creationId xmlns:p14="http://schemas.microsoft.com/office/powerpoint/2010/main" val="9063023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D9C4A-5B3B-41B0-BFC6-B23CE59C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SCP i sprawdzenie publikacji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F9E0F-11D6-435F-9AD3-A8A6549A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Osobny katalog public_html/landsat-DATA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Przesyłamy całą zawartość outputs/site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Sprawdzamy URL i wszystkie warstwy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3481A-AA29-44B2-89F7-6575B710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23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84A69-A6B6-4B0E-9AA9-906F1A27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82–85 min</a:t>
            </a:r>
          </a:p>
        </p:txBody>
      </p:sp>
    </p:spTree>
    <p:extLst>
      <p:ext uri="{BB962C8B-B14F-4D97-AF65-F5344CB8AC3E}">
        <p14:creationId xmlns:p14="http://schemas.microsoft.com/office/powerpoint/2010/main" val="59829115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6A8F4-97F9-49FC-ADCF-F8C871B0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Laboratorium: 90 minut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88567-9350-44BA-AB52-2B2D8155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0–40 min: dane, CRS i jakość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40–55 min: wskaźniki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55–70 min: mapa lokalna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70–90 min: publikacja i oddanie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C1C23-F049-4B60-8766-33115F9A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24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7E28F-6463-4718-89B4-39FFE802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85–88 min</a:t>
            </a:r>
          </a:p>
        </p:txBody>
      </p:sp>
    </p:spTree>
    <p:extLst>
      <p:ext uri="{BB962C8B-B14F-4D97-AF65-F5344CB8AC3E}">
        <p14:creationId xmlns:p14="http://schemas.microsoft.com/office/powerpoint/2010/main" val="16455224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7579D-5566-4626-9E9A-AAAA3AF5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Pytania sprawdzające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0C0EE-5FCC-4C3E-8FB4-F50A94FA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Dlaczego 0 nie jest NoData?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Czy dodatni NDBI oznacza budynek?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Co trzeba przesłać oprócz index.html?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Czy zoom 17 dodaje szczegóły?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0447C-D0B0-4771-843C-52077C43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25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9455C-C491-41A1-A9ED-520DCB1C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88–90 min</a:t>
            </a:r>
          </a:p>
        </p:txBody>
      </p:sp>
    </p:spTree>
    <p:extLst>
      <p:ext uri="{BB962C8B-B14F-4D97-AF65-F5344CB8AC3E}">
        <p14:creationId xmlns:p14="http://schemas.microsoft.com/office/powerpoint/2010/main" val="1591060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2026-09-30T16:05:34.4580000Z</dcterms:created>
  <dcterms:modified xsi:type="dcterms:W3CDTF">2026-09-30T16:05:34.4580000Z</dcterms:modified>
</coreProperties>
</file>