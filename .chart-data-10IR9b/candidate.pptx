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4d09662bd4a75" /><Relationship Type="http://schemas.openxmlformats.org/officeDocument/2006/relationships/extended-properties" Target="/docProps/app.xml" Id="Rea414e129bee4d4e" /><Relationship Type="http://schemas.openxmlformats.org/officeDocument/2006/relationships/officeDocument" Target="/ppt/presentation.xml" Id="R5701f277c3c640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02c043e3434988"/>
  </p:sldMasterIdLst>
  <p:notesMasterIdLst>
    <p:notesMasterId xmlns:r="http://schemas.openxmlformats.org/officeDocument/2006/relationships" r:id="R26519bf42029420e"/>
  </p:notesMasterIdLst>
  <p:sldIdLst>
    <p:sldId xmlns:r="http://schemas.openxmlformats.org/officeDocument/2006/relationships" id="256" r:id="Rb47a18196d0b476c"/>
    <p:sldId xmlns:r="http://schemas.openxmlformats.org/officeDocument/2006/relationships" id="257" r:id="Rd788605b2c864474"/>
    <p:sldId xmlns:r="http://schemas.openxmlformats.org/officeDocument/2006/relationships" id="258" r:id="R91356f4f956c4070"/>
    <p:sldId xmlns:r="http://schemas.openxmlformats.org/officeDocument/2006/relationships" id="259" r:id="R2c25c7d239244e7f"/>
    <p:sldId xmlns:r="http://schemas.openxmlformats.org/officeDocument/2006/relationships" id="260" r:id="R379f524500ee40ee"/>
    <p:sldId xmlns:r="http://schemas.openxmlformats.org/officeDocument/2006/relationships" id="261" r:id="Reae723dc3f9e40b9"/>
    <p:sldId xmlns:r="http://schemas.openxmlformats.org/officeDocument/2006/relationships" id="262" r:id="Rbb2a7c568c5d4568"/>
    <p:sldId xmlns:r="http://schemas.openxmlformats.org/officeDocument/2006/relationships" id="263" r:id="Rafdb72702d074b99"/>
    <p:sldId xmlns:r="http://schemas.openxmlformats.org/officeDocument/2006/relationships" id="264" r:id="R1215e914da974489"/>
    <p:sldId xmlns:r="http://schemas.openxmlformats.org/officeDocument/2006/relationships" id="265" r:id="R78c0d1514678474a"/>
    <p:sldId xmlns:r="http://schemas.openxmlformats.org/officeDocument/2006/relationships" id="266" r:id="R1f2008ae7a434979"/>
    <p:sldId xmlns:r="http://schemas.openxmlformats.org/officeDocument/2006/relationships" id="267" r:id="R6d4f7a1a397b45d1"/>
    <p:sldId xmlns:r="http://schemas.openxmlformats.org/officeDocument/2006/relationships" id="268" r:id="Rcfcd68156af5457c"/>
    <p:sldId xmlns:r="http://schemas.openxmlformats.org/officeDocument/2006/relationships" id="269" r:id="R7fbb67692235473b"/>
    <p:sldId xmlns:r="http://schemas.openxmlformats.org/officeDocument/2006/relationships" id="270" r:id="Rfc82cf7902e54ae6"/>
    <p:sldId xmlns:r="http://schemas.openxmlformats.org/officeDocument/2006/relationships" id="271" r:id="R87ad6a8b07034a99"/>
    <p:sldId xmlns:r="http://schemas.openxmlformats.org/officeDocument/2006/relationships" id="272" r:id="Rfd69ceb5ea004d19"/>
    <p:sldId xmlns:r="http://schemas.openxmlformats.org/officeDocument/2006/relationships" id="273" r:id="R115dc2cfddda4b44"/>
    <p:sldId xmlns:r="http://schemas.openxmlformats.org/officeDocument/2006/relationships" id="274" r:id="R143f56287c944f93"/>
    <p:sldId xmlns:r="http://schemas.openxmlformats.org/officeDocument/2006/relationships" id="275" r:id="R7b2acb3cdea04e5a"/>
    <p:sldId xmlns:r="http://schemas.openxmlformats.org/officeDocument/2006/relationships" id="276" r:id="R84f303d17d07488a"/>
    <p:sldId xmlns:r="http://schemas.openxmlformats.org/officeDocument/2006/relationships" id="277" r:id="R10200d6802a84f41"/>
    <p:sldId xmlns:r="http://schemas.openxmlformats.org/officeDocument/2006/relationships" id="278" r:id="Re36938e2a1904d18"/>
    <p:sldId xmlns:r="http://schemas.openxmlformats.org/officeDocument/2006/relationships" id="279" r:id="R295ffdf0fb6544e3"/>
    <p:sldId xmlns:r="http://schemas.openxmlformats.org/officeDocument/2006/relationships" id="280" r:id="Rd24bafe9c895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4d7b02a664351" /><Relationship Type="http://schemas.openxmlformats.org/officeDocument/2006/relationships/slideMaster" Target="/ppt/slideMasters/slideMaster1.xml" Id="Ree02c043e3434988" /><Relationship Type="http://schemas.openxmlformats.org/officeDocument/2006/relationships/notesMaster" Target="/ppt/notesMasters/notesMaster1.xml" Id="R26519bf42029420e" /><Relationship Type="http://schemas.openxmlformats.org/officeDocument/2006/relationships/presProps" Target="/ppt/presProps.xml" Id="Re1a6d2c43d31499f" /><Relationship Type="http://schemas.openxmlformats.org/officeDocument/2006/relationships/tableStyles" Target="/ppt/tableStyles.xml" Id="Rf202eb3a7fee4125" /><Relationship Type="http://schemas.openxmlformats.org/officeDocument/2006/relationships/slide" Target="/ppt/slides/slide1.xml" Id="Rb47a18196d0b476c" /><Relationship Type="http://schemas.openxmlformats.org/officeDocument/2006/relationships/slide" Target="/ppt/slides/slide2.xml" Id="Rd788605b2c864474" /><Relationship Type="http://schemas.openxmlformats.org/officeDocument/2006/relationships/slide" Target="/ppt/slides/slide3.xml" Id="R91356f4f956c4070" /><Relationship Type="http://schemas.openxmlformats.org/officeDocument/2006/relationships/slide" Target="/ppt/slides/slide4.xml" Id="R2c25c7d239244e7f" /><Relationship Type="http://schemas.openxmlformats.org/officeDocument/2006/relationships/slide" Target="/ppt/slides/slide5.xml" Id="R379f524500ee40ee" /><Relationship Type="http://schemas.openxmlformats.org/officeDocument/2006/relationships/slide" Target="/ppt/slides/slide6.xml" Id="Reae723dc3f9e40b9" /><Relationship Type="http://schemas.openxmlformats.org/officeDocument/2006/relationships/slide" Target="/ppt/slides/slide7.xml" Id="Rbb2a7c568c5d4568" /><Relationship Type="http://schemas.openxmlformats.org/officeDocument/2006/relationships/slide" Target="/ppt/slides/slide8.xml" Id="Rafdb72702d074b99" /><Relationship Type="http://schemas.openxmlformats.org/officeDocument/2006/relationships/slide" Target="/ppt/slides/slide9.xml" Id="R1215e914da974489" /><Relationship Type="http://schemas.openxmlformats.org/officeDocument/2006/relationships/slide" Target="/ppt/slides/slide10.xml" Id="R78c0d1514678474a" /><Relationship Type="http://schemas.openxmlformats.org/officeDocument/2006/relationships/slide" Target="/ppt/slides/slide11.xml" Id="R1f2008ae7a434979" /><Relationship Type="http://schemas.openxmlformats.org/officeDocument/2006/relationships/slide" Target="/ppt/slides/slide12.xml" Id="R6d4f7a1a397b45d1" /><Relationship Type="http://schemas.openxmlformats.org/officeDocument/2006/relationships/slide" Target="/ppt/slides/slide13.xml" Id="Rcfcd68156af5457c" /><Relationship Type="http://schemas.openxmlformats.org/officeDocument/2006/relationships/slide" Target="/ppt/slides/slide14.xml" Id="R7fbb67692235473b" /><Relationship Type="http://schemas.openxmlformats.org/officeDocument/2006/relationships/slide" Target="/ppt/slides/slide15.xml" Id="Rfc82cf7902e54ae6" /><Relationship Type="http://schemas.openxmlformats.org/officeDocument/2006/relationships/slide" Target="/ppt/slides/slide16.xml" Id="R87ad6a8b07034a99" /><Relationship Type="http://schemas.openxmlformats.org/officeDocument/2006/relationships/slide" Target="/ppt/slides/slide17.xml" Id="Rfd69ceb5ea004d19" /><Relationship Type="http://schemas.openxmlformats.org/officeDocument/2006/relationships/slide" Target="/ppt/slides/slide18.xml" Id="R115dc2cfddda4b44" /><Relationship Type="http://schemas.openxmlformats.org/officeDocument/2006/relationships/slide" Target="/ppt/slides/slide19.xml" Id="R143f56287c944f93" /><Relationship Type="http://schemas.openxmlformats.org/officeDocument/2006/relationships/slide" Target="/ppt/slides/slide20.xml" Id="R7b2acb3cdea04e5a" /><Relationship Type="http://schemas.openxmlformats.org/officeDocument/2006/relationships/slide" Target="/ppt/slides/slide21.xml" Id="R84f303d17d07488a" /><Relationship Type="http://schemas.openxmlformats.org/officeDocument/2006/relationships/slide" Target="/ppt/slides/slide22.xml" Id="R10200d6802a84f41" /><Relationship Type="http://schemas.openxmlformats.org/officeDocument/2006/relationships/slide" Target="/ppt/slides/slide23.xml" Id="Re36938e2a1904d18" /><Relationship Type="http://schemas.openxmlformats.org/officeDocument/2006/relationships/slide" Target="/ppt/slides/slide24.xml" Id="R295ffdf0fb6544e3" /><Relationship Type="http://schemas.openxmlformats.org/officeDocument/2006/relationships/slide" Target="/ppt/slides/slide25.xml" Id="Rd24bafe9c895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74d74986b4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46414935d4744" /><Relationship Type="http://schemas.openxmlformats.org/officeDocument/2006/relationships/notesMaster" Target="/ppt/notesMasters/notesMaster1.xml" Id="R8eef158f4391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a9439ce8ff4876" /><Relationship Type="http://schemas.openxmlformats.org/officeDocument/2006/relationships/notesMaster" Target="/ppt/notesMasters/notesMaster1.xml" Id="R93a776ece7ef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1d83c40f6341ca" /><Relationship Type="http://schemas.openxmlformats.org/officeDocument/2006/relationships/notesMaster" Target="/ppt/notesMasters/notesMaster1.xml" Id="Ra5f326f1097949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f7ffe7e154831" /><Relationship Type="http://schemas.openxmlformats.org/officeDocument/2006/relationships/notesMaster" Target="/ppt/notesMasters/notesMaster1.xml" Id="R4ab83bbe7dab4d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911f4c4346482c" /><Relationship Type="http://schemas.openxmlformats.org/officeDocument/2006/relationships/notesMaster" Target="/ppt/notesMasters/notesMaster1.xml" Id="R4496ac2ec89c46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414b6f2f73471b" /><Relationship Type="http://schemas.openxmlformats.org/officeDocument/2006/relationships/notesMaster" Target="/ppt/notesMasters/notesMaster1.xml" Id="R33f1111391a74d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f565dceba742e1" /><Relationship Type="http://schemas.openxmlformats.org/officeDocument/2006/relationships/notesMaster" Target="/ppt/notesMasters/notesMaster1.xml" Id="R47ea8717adcd48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f68df53a73448e" /><Relationship Type="http://schemas.openxmlformats.org/officeDocument/2006/relationships/notesMaster" Target="/ppt/notesMasters/notesMaster1.xml" Id="R3301a95cad7c4c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6c3b9de4c4122" /><Relationship Type="http://schemas.openxmlformats.org/officeDocument/2006/relationships/notesMaster" Target="/ppt/notesMasters/notesMaster1.xml" Id="R27a8618dd67e4d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4df9a5169e4fad" /><Relationship Type="http://schemas.openxmlformats.org/officeDocument/2006/relationships/notesMaster" Target="/ppt/notesMasters/notesMaster1.xml" Id="Rb855f7c1b53e4f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e6f9b6fb8a4c0e" /><Relationship Type="http://schemas.openxmlformats.org/officeDocument/2006/relationships/notesMaster" Target="/ppt/notesMasters/notesMaster1.xml" Id="R6aa24b1478c842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43cd7c0dd3428d" /><Relationship Type="http://schemas.openxmlformats.org/officeDocument/2006/relationships/notesMaster" Target="/ppt/notesMasters/notesMaster1.xml" Id="Rfe72cafee2a845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13a1bd756f44bd" /><Relationship Type="http://schemas.openxmlformats.org/officeDocument/2006/relationships/notesMaster" Target="/ppt/notesMasters/notesMaster1.xml" Id="R43d0c9349dfd46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63b5c09ade4971" /><Relationship Type="http://schemas.openxmlformats.org/officeDocument/2006/relationships/notesMaster" Target="/ppt/notesMasters/notesMaster1.xml" Id="R0dc1c435e53248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c99df10b134e27" /><Relationship Type="http://schemas.openxmlformats.org/officeDocument/2006/relationships/notesMaster" Target="/ppt/notesMasters/notesMaster1.xml" Id="R8d51bc29778d4c8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9d641fc1434ec3" /><Relationship Type="http://schemas.openxmlformats.org/officeDocument/2006/relationships/notesMaster" Target="/ppt/notesMasters/notesMaster1.xml" Id="R927e3c024a2741c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be230e0abd4a86" /><Relationship Type="http://schemas.openxmlformats.org/officeDocument/2006/relationships/notesMaster" Target="/ppt/notesMasters/notesMaster1.xml" Id="Rec07dea80cdf4f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803a60bb744dc5" /><Relationship Type="http://schemas.openxmlformats.org/officeDocument/2006/relationships/notesMaster" Target="/ppt/notesMasters/notesMaster1.xml" Id="R965ad61fc5e844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761e74193f4c5c" /><Relationship Type="http://schemas.openxmlformats.org/officeDocument/2006/relationships/notesMaster" Target="/ppt/notesMasters/notesMaster1.xml" Id="R568206e3aace4d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0e95af8c6c4643" /><Relationship Type="http://schemas.openxmlformats.org/officeDocument/2006/relationships/notesMaster" Target="/ppt/notesMasters/notesMaster1.xml" Id="R30d98c7b8208413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7e5ffdea434a45" /><Relationship Type="http://schemas.openxmlformats.org/officeDocument/2006/relationships/notesMaster" Target="/ppt/notesMasters/notesMaster1.xml" Id="R82fb1298f4c445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ce77d15ae344e5" /><Relationship Type="http://schemas.openxmlformats.org/officeDocument/2006/relationships/notesMaster" Target="/ppt/notesMasters/notesMaster1.xml" Id="R2b5d1966cbda4c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b6477bab49f4aad" /><Relationship Type="http://schemas.openxmlformats.org/officeDocument/2006/relationships/notesMaster" Target="/ppt/notesMasters/notesMaster1.xml" Id="Rd15a45be6ba9446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1141c983685404c" /><Relationship Type="http://schemas.openxmlformats.org/officeDocument/2006/relationships/notesMaster" Target="/ppt/notesMasters/notesMaster1.xml" Id="R6107743dd3584e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8db5a02161b4a1d" /><Relationship Type="http://schemas.openxmlformats.org/officeDocument/2006/relationships/notesMaster" Target="/ppt/notesMasters/notesMaster1.xml" Id="Rd157257bf17c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(0–2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Przedstaw efekt zajęć: obliczenia w Pythonie i mapa na koncie AGH. Zapowiedz, że to analiza wskaźników, nie model uczenia maszynowego. Uczestnicy powinni znać podstawy tablic NumPy. IBIS pozostaje poza zakresem.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(2–7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Otwórz przygotowaną stronę lokalnie. Przełącz cztery warstwy, pokaż legendę i przezroczystość. Wyjaśnij, że notatnik odtwarza te same wyniki. Zapytaj studentów, czy sam kolor mapy wystarczy do określenia pokrycia terenu. Zarezerwuj dwie minuty na odpowiedzi.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(7–11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nazwy plików. Zwróć uwagę na sr_band i identyfikator L1TP w nazwie sceny. Dane zostały wycięte prostokątem bez resamplingu. XML opisuje pełną scenę, ale georeferencję wycinka czytamy z TIFF. Nie pobieramy archiwalnej Collection 1 na zajęciach, ponieważ używamy dostarczonych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(11–15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Powiąż kanały z RGB i wzorami wskaźników. Zapytaj, dlaczego RGB nie pokazuje wszystkiego, co rejestruje satelita. Nie myl numeracji pasm Landsat 8 z Landsat 5. Kanał B5 jest bliską podczerwienią, nie kanałem termalnym.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(15–19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znaczenie CRS i transformacji afinicznej. Jeden piksel ma 30 m. Przypisanie CRS to interpretacja istniejących liczb, reprojekcja to przeliczenie. Brak PRJ w oryginale został jawnie uzupełniony na podstawie zgodności ze starymi rastrami clipped; nie przedstawiaj tej granicy jako zweryfikowanej urzędowej geometrii.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(19–23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prostokątny obraz B5. Omów odczyt tylko niezbędnej części sceny. Następnie transform_geom przelicza granicę, a geometry_mask tworzy maskę środków pikseli. Zmiana all_touched może zmienić liczbę pikseli na granicy.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(23–27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Przelicz przykład na tablicy. W tej scenie add_offset nie występuje, więc przyjmujemy 0. C2 ma inne parametry, w tym offset. Nie opisuj 10000 jako maksimum wszystkich pikseli. XML dopuszcza wartości ujemne. Zapytaj, kiedy wspólna skala skraca się w ilorazie i dlaczego offset już się nie skraca.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ESPA XML; https://www.usgs.gov/faqs/how-do-i-use-a-scale-factor-landsat-level-2-science-products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 (27–32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flagi fill, cień, śnieg, chmury, przesłonięcie terenu i wysoką pewność cirrus. Wskaż osobną kontrolę nasycenia B2–B6. Odrzucono 98 pikseli w granicy, więc obraz jest prawie cały zielony. Białe tło oznacza obszar poza granicą. Poproś o rozkodowanie wartości 4 jako bitu wody.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Bity pixel_qa i radsat_qa w dołączonym ESPA XML;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(32–36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Porównaj obraz po maskowaniu z poprzednim. Wyjaśnij różnicę między zerową reflektancją a brakiem danych. Znormalizowana różnica równych niezerowych kanałów daje zero. Dwa zera dają wynik nieokreślony. W kodzie granica bezpiecznego mianownika to 1e-6.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(36–40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Wskaż widoczne struktury pól, lasów i zabudowy. Rozciągnięcie kontrastu dotyczy tylko wyświetlania, osobno dla każdego kanału. Nie używamy tak zmodyfikowanych wartości do obliczeń wskaźników. Podkład internetowy może pokazywać nowszy stan terenu niż 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(40–44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Przykłady są dydaktyczne, nie są zmierzonymi pikselami mapy. Poproś studentów o obliczenie wyniku dla odwróconej pary 0.2 i 0.6. Wynik -0.5 pozostaje poprawny. Przy ujemnych wejściach iloraz może wyjść poza [-1,1]. Kod nie obcina wyników analitycznych.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(44–48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przestrzenny rozkład wysokich wartości. Zapytaj, czy każdy zielony piksel jest lasem. Wysoki NDVI nie identyfikuje gatunku ani nie jest samodzielną diagnozą zdrowia. Wskaż trzy piksele spoza [-1,1] w raporcie; na mapie kolor ograniczono, ale wartości GeoTIFF zachowano.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outputs/summary.json; https://www.usgs.gov/landsat-missions/landsat-normalized-difference-vegetation-index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(48–52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możliwość pomylenia odsłoniętej gleby z zabudową. Średnia wynosi -0.1905 i nie opisuje sama w sobie urbanizacji regionu. Przykład na tablicy: 0.35 i 0.20 daje około 0.273. Nie zakładaj, że każdy dodatni piksel jest budynkiem.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Zha, Gao, Ni (2003), DOI 10.1080/01431160210144570; outputs/summary.json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(52–56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korektę nazewnictwa starego kodu: B3/B6 odpowiada MNDWI. Zaproponuj odszukanie rzeki i porównanie z RGB. Wąskie cieki mogą dawać piksele mieszane przy 30 m. Dodatni wynik nie zastępuje weryfikacji terenowej.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Xu (2006), DOI 10.1080/01431160600589179; dane projektu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(56–60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edytowalny wykres średnich z summary.json. Uczestnicy powinni równolegle zajrzeć do histogramów w notatniku/PDF. Zwróć uwagę na różne znaczenia poszczególnych indeksów: porównanie wysokości słupków nie oznacza rankingu jakości. Średnie dotyczą wyłącznie ważnych pikseli.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(60–63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Poproś o dwa przykłady błędnych wniosków: aktualna powierzchnia zabudowy z dawnej sceny i utożsamienie NDBI&gt;0 z budynkami. Wskaż znaczenie walidacji niezależnymi danymi. Temat MODIS można zasygnalizować jako dalszą analizę czasową, bez dodawania ćwiczenia do tego laboratorium.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(63–66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pliki NDVI.tif i NDVI_display.tif. Ten drugi zapisuje kolory, nie NDVI. Omów test allclose z equal_nan=True oraz sprawdzenie CRS i transformacji. Student powinien rozumieć, dlaczego screenshot mapy nie zastępuje danych.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(66–69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wspólny zakres legendy. Dwie mapy z automatycznym min/max mogą wyglądać podobnie mimo różnych wartości. Przedstaw przykład NDVI 1.0062: numerycznie pozostaje w TIFF, a na mapie dostaje skrajny kolor. Odróżnij alfa od globalnej przezroczystości suwaka.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 (69–73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Omów piramidę zoomów i wpływ maksymalnego zoomu na liczbę plików. Pomieszanie XYZ z TMS odwraca indeks y. Reprojekcja odbywa się w Pythonie przez Rasterio. Nie zwiększamy informacyjnej rozdzielczości obrazu, kiedy użytkownik powiększa kafelki do zoomu 17.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Kod xyz_tiles; https://rasterio.readthedocs.io/en/stable/topics/reproject.html; https://leafletjs.com/reference.html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(73–76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Przeprowadź krótką demonstrację strony. Nie trzeba instalować Pythona na serwerze AGH, ponieważ przesyłamy statyczne pliki. Bibliotekę Leaflet dołączono lokalnie. Zachowujemy informacje o autorstwie podkładu. Sama publikacja HTML bez tiles prowadzi do pustej mapy.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(76–79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Dwie pierwsze linie na slajdzie stanowią jedno polecenie. W Markdown jest gotowy blok do skopiowania. Wyjaśnij, dlaczego nie używać file:// i że serwer pozostaje zajęty do Ctrl+C. Drugie okno terminala służy do SSH/SCP. Przy zajętym porcie wybieramy 8001.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(79–82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Wyjaśnij rozdział hosta SSH i WWW. Dla galaxy WWW to home.agh.edu.pl/~login. Strony studentów są dostępne w sieci AGH/VPN. Używamy loginu UNIX bez sufiksu @student. Pierwsze połączenie wymaga sprawdzenia klucza serwera. Nie zapisujemy haseł w notatniku.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https://cri.agh.edu.pl/uslugi/konta-unix, sprawdzono 30.09.2026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(82–85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Pokaż polecenie scp -r outputs/site/. i składnię login@host:ścieżka. Nowy katalog chroni istniejącą stronę główną. Uprawnienia katalogów 755, plików 644. HTTP 200 dla index.html nie dowodzi poprawnego przesłania kafelków. Pełne polecenia są w notatniku, PDF i Markdown.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 (85–88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Przypomnij konieczność przygotowania środowiska przed zajęciami. Każdy student ma uruchomić notatnik i zrozumieć najważniejszy fragment np.divide. Modyfikacja progu NDVI jest krótkim eksperymentem. Rezultat: URL, notatnik, trzy wnioski. Gdy konto nie działa, zachowujemy paczkę strony, ale nie udajemy publikacji.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 (88–90 min wykładu).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Odpowiedzi: zero może być ważną wartością; dodatni NDBI może oznaczać glebę; potrzebne są tiles, vendor i pliki danych strony; powiększenie nie zmienia rozdzielczości źródłowej. Zakończ wskazaniem konspektu i notatnika. Źródła naukowe oraz dokumentacja znajdują się w końcowej części PDF i notatnika.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Źródła: Dane projektu NASA/Landsat8 i kod LABOLATORIUM/src/landsat_lab.py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5f185ceeb40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5b8129efc54d6d" /><Relationship Type="http://schemas.openxmlformats.org/officeDocument/2006/relationships/slideLayout" Target="/ppt/slideLayouts/slideLayout1.xml" Id="Rb385e373557040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85e373557040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e1d8e29424426" /><Relationship Type="http://schemas.openxmlformats.org/officeDocument/2006/relationships/notesSlide" Target="/ppt/notesSlides/notesSlide1.xml" Id="R5528e17ced4b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c5d48d2a34d07" /><Relationship Type="http://schemas.openxmlformats.org/officeDocument/2006/relationships/notesSlide" Target="/ppt/notesSlides/notesSlide2.xml" Id="Rcb5c0a1d2e0046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b224ce74f48f1" /><Relationship Type="http://schemas.openxmlformats.org/officeDocument/2006/relationships/notesSlide" Target="/ppt/notesSlides/notesSlide3.xml" Id="Re2ba2a6727ba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1dc2d3be145f2" /><Relationship Type="http://schemas.openxmlformats.org/officeDocument/2006/relationships/notesSlide" Target="/ppt/notesSlides/notesSlide4.xml" Id="R29834f77014b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fc37b40474886" /><Relationship Type="http://schemas.openxmlformats.org/officeDocument/2006/relationships/notesSlide" Target="/ppt/notesSlides/notesSlide5.xml" Id="R195607893b3d47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db1654a3b4d6d" /><Relationship Type="http://schemas.openxmlformats.org/officeDocument/2006/relationships/image" Target="/ppt/media/image.png" Id="Recd833029ee44e21" /><Relationship Type="http://schemas.openxmlformats.org/officeDocument/2006/relationships/notesSlide" Target="/ppt/notesSlides/notesSlide6.xml" Id="R990726bd74f240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19f8e89af4f53" /><Relationship Type="http://schemas.openxmlformats.org/officeDocument/2006/relationships/notesSlide" Target="/ppt/notesSlides/notesSlide7.xml" Id="R496e8eb1d38e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c31321e340b5" /><Relationship Type="http://schemas.openxmlformats.org/officeDocument/2006/relationships/image" Target="/ppt/media/image2.png" Id="Rcf1c835fc9124590" /><Relationship Type="http://schemas.openxmlformats.org/officeDocument/2006/relationships/notesSlide" Target="/ppt/notesSlides/notesSlide8.xml" Id="R74c6b0b163174f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2087f15444d92" /><Relationship Type="http://schemas.openxmlformats.org/officeDocument/2006/relationships/image" Target="/ppt/media/image3.png" Id="R899b8c4b98fa4d80" /><Relationship Type="http://schemas.openxmlformats.org/officeDocument/2006/relationships/notesSlide" Target="/ppt/notesSlides/notesSlide9.xml" Id="R9bd5e51de8cd48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6e037bb0843fb" /><Relationship Type="http://schemas.openxmlformats.org/officeDocument/2006/relationships/image" Target="/ppt/media/image4.png" Id="R427d5fa3d3a8463c" /><Relationship Type="http://schemas.openxmlformats.org/officeDocument/2006/relationships/notesSlide" Target="/ppt/notesSlides/notesSlide10.xml" Id="R76f1b4e4e4a343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93932f74e42fa" /><Relationship Type="http://schemas.openxmlformats.org/officeDocument/2006/relationships/notesSlide" Target="/ppt/notesSlides/notesSlide11.xml" Id="Rf4d8c03c0fed44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23661a20d4bbe" /><Relationship Type="http://schemas.openxmlformats.org/officeDocument/2006/relationships/image" Target="/ppt/media/image5.png" Id="Rcf58c84e7ab04713" /><Relationship Type="http://schemas.openxmlformats.org/officeDocument/2006/relationships/notesSlide" Target="/ppt/notesSlides/notesSlide12.xml" Id="R6302d7ab0b8745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f76c11bc44371" /><Relationship Type="http://schemas.openxmlformats.org/officeDocument/2006/relationships/image" Target="/ppt/media/image6.png" Id="R6921bfbec867475c" /><Relationship Type="http://schemas.openxmlformats.org/officeDocument/2006/relationships/notesSlide" Target="/ppt/notesSlides/notesSlide13.xml" Id="Rc9c32cebe42b43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b5a3ea6a74495" /><Relationship Type="http://schemas.openxmlformats.org/officeDocument/2006/relationships/image" Target="/ppt/media/image7.png" Id="R2526748f61474f4c" /><Relationship Type="http://schemas.openxmlformats.org/officeDocument/2006/relationships/notesSlide" Target="/ppt/notesSlides/notesSlide14.xml" Id="Rea4c46ab98b745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4352a00714e5e" /><Relationship Type="http://schemas.openxmlformats.org/officeDocument/2006/relationships/chart" Target="/ppt/slides/charts/chart1.xml" Id="R5a93f3e4ab94410b" /><Relationship Type="http://schemas.openxmlformats.org/officeDocument/2006/relationships/notesSlide" Target="/ppt/notesSlides/notesSlide15.xml" Id="R7119f71b57a64c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9a774afd64df4" /><Relationship Type="http://schemas.openxmlformats.org/officeDocument/2006/relationships/notesSlide" Target="/ppt/notesSlides/notesSlide16.xml" Id="Rd4b4ee21108c4a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296ee25424840" /><Relationship Type="http://schemas.openxmlformats.org/officeDocument/2006/relationships/notesSlide" Target="/ppt/notesSlides/notesSlide17.xml" Id="R8092ce28447b4ff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a727aa8cf4487" /><Relationship Type="http://schemas.openxmlformats.org/officeDocument/2006/relationships/notesSlide" Target="/ppt/notesSlides/notesSlide18.xml" Id="R20e4e5fc2ee143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fbfc0990b48a3" /><Relationship Type="http://schemas.openxmlformats.org/officeDocument/2006/relationships/notesSlide" Target="/ppt/notesSlides/notesSlide19.xml" Id="R453f6018b77a4f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74836631b4236" /><Relationship Type="http://schemas.openxmlformats.org/officeDocument/2006/relationships/notesSlide" Target="/ppt/notesSlides/notesSlide20.xml" Id="R1b678992536e48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ad964d0ea42c7" /><Relationship Type="http://schemas.openxmlformats.org/officeDocument/2006/relationships/notesSlide" Target="/ppt/notesSlides/notesSlide21.xml" Id="Rc495418c65aa47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c708fb7834607" /><Relationship Type="http://schemas.openxmlformats.org/officeDocument/2006/relationships/notesSlide" Target="/ppt/notesSlides/notesSlide22.xml" Id="Rcc405d3d630944e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f67b3d58b468b" /><Relationship Type="http://schemas.openxmlformats.org/officeDocument/2006/relationships/notesSlide" Target="/ppt/notesSlides/notesSlide23.xml" Id="R248e24618ced41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8206357c54100" /><Relationship Type="http://schemas.openxmlformats.org/officeDocument/2006/relationships/notesSlide" Target="/ppt/notesSlides/notesSlide24.xml" Id="R1b807007749849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d57ea461c4e24" /><Relationship Type="http://schemas.openxmlformats.org/officeDocument/2006/relationships/notesSlide" Target="/ppt/notesSlides/notesSlide25.xml" Id="R9123e280307640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Średnia</c:v>
          </c:tx>
          <c:spPr>
            <a:solidFill xmlns:a="http://schemas.openxmlformats.org/drawingml/2006/main">
              <a:srgbClr val="147F8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NDVI</c:v>
                </c:pt>
                <c:pt idx="1">
                  <c:v>NDBI</c:v>
                </c:pt>
                <c:pt idx="2">
                  <c:v>MNDWI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0.6179</c:v>
                </c:pt>
                <c:pt idx="1">
                  <c:v>-0.1905</c:v>
                </c:pt>
                <c:pt idx="2">
                  <c:v>-0.4896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1593D-13EE-46CF-A480-3EC95788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Landsat 8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Analiza i publikacja mapy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BB3CE-C08A-40BA-AE4E-CD7EE447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Wykład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Laboratorium 90 minut</a:t>
            </a:r>
          </a:p>
          <a:p xmlns:a="http://schemas.openxmlformats.org/drawingml/2006/main">
            <a:pPr>
              <a:defRPr sz="2250" b="0">
                <a:solidFill>
                  <a:srgbClr val="BEDEE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DEE0"/>
                </a:solidFill>
                <a:latin typeface="Arial"/>
                <a:ea typeface="Arial"/>
                <a:cs typeface="Arial"/>
              </a:rPr>
              <a:t>Kraków i okolice, 7 sierpnia 2013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73908-6134-4990-971B-273D0D4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489A1-8763-4124-B8D8-8E4E4657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0–2 min</a:t>
            </a:r>
          </a:p>
        </p:txBody>
      </p:sp>
    </p:spTree>
    <p:extLst>
      <p:ext uri="{BB962C8B-B14F-4D97-AF65-F5344CB8AC3E}">
        <p14:creationId xmlns:p14="http://schemas.microsoft.com/office/powerpoint/2010/main" val="1002720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0350-2ADE-4C81-975B-E6506A0D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Efekt końcowy ćwiczenia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14942-E504-41C3-BED8-0EEC0C18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NDVI, NDBI i MNDWI w jednej mapie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dalszej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Publikacja na koncie UNIX AGH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B0323-0908-4BD7-84C6-F54B3533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05CA6-A1DF-41C8-9167-DA9EC190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2–7 min</a:t>
            </a:r>
          </a:p>
        </p:txBody>
      </p:sp>
    </p:spTree>
    <p:extLst>
      <p:ext uri="{BB962C8B-B14F-4D97-AF65-F5344CB8AC3E}">
        <p14:creationId xmlns:p14="http://schemas.microsoft.com/office/powerpoint/2010/main" val="2932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F4D5A-1979-4A18-8FEC-C539A6CD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i paczka danych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2B0FD-E08C-4C96-AEAD-A8173C35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2013-08-07, Collection 1 Surface Reflectance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1583 × 1982 piksele, rozdzielczość 30 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B2–B6, pixel_qa, radsat_qa i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502A0-B056-4516-BC99-AE46D1F3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05ABC-EDE5-40B3-9A61-F4B4480A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7–11 min</a:t>
            </a:r>
          </a:p>
        </p:txBody>
      </p:sp>
    </p:spTree>
    <p:extLst>
      <p:ext uri="{BB962C8B-B14F-4D97-AF65-F5344CB8AC3E}">
        <p14:creationId xmlns:p14="http://schemas.microsoft.com/office/powerpoint/2010/main" val="1253315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D09EF-9373-4592-982B-FE63BC0C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użyte w ćwiczeniu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DF197-1BB0-4313-B1F1-BD4E5024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B2  niebieski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E6FF4-D13B-4086-9370-6C738C9D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B3  zielony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20692-DF41-4FFB-825F-30A9225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B4  czerwony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7C80-70F4-491D-9CCB-5EDAF2E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B5  NIR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A6608-E096-4775-B46E-96E3D8CF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B6  SWIR1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738E6-3FC9-4D1C-BE50-F2BCC507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04  / 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BDA11-661B-40E7-B02A-522BB21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11–15 min</a:t>
            </a:r>
          </a:p>
        </p:txBody>
      </p:sp>
    </p:spTree>
    <p:extLst>
      <p:ext uri="{BB962C8B-B14F-4D97-AF65-F5344CB8AC3E}">
        <p14:creationId xmlns:p14="http://schemas.microsoft.com/office/powerpoint/2010/main" val="618695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C0FA1-8009-4C82-B9CC-EF0CA95F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Georeferencja rastra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A4B9-5A1E-484A-B5C3-163A5604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EPSG:32634: metry w układzie UTM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Transformacja wiąże wiersz i kolumnę z położeniem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GeoJSON granicy: EPSG:4326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C29D1-10E7-4E19-88B9-807A8557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478CE-6B85-4AA4-842B-1B65B6C5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15–19 min</a:t>
            </a:r>
          </a:p>
        </p:txBody>
      </p:sp>
    </p:spTree>
    <p:extLst>
      <p:ext uri="{BB962C8B-B14F-4D97-AF65-F5344CB8AC3E}">
        <p14:creationId xmlns:p14="http://schemas.microsoft.com/office/powerpoint/2010/main" val="948471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70532-58CD-4067-AC5A-4FE24504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Przycięcie do granicy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CFEB6-6EBC-4A35-98D0-F97CFC9A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Prostokąt ogranicza koszt odczytu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wielokąta wyznacza obszar analizy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Poza granicą zapisujemy brak danych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833029ee44e21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ED7CC-5184-4F0D-8CC8-D918EF03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06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EB499-FDFD-4BC4-8398-D02F0A0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19–23 min</a:t>
            </a:r>
          </a:p>
        </p:txBody>
      </p:sp>
    </p:spTree>
    <p:extLst>
      <p:ext uri="{BB962C8B-B14F-4D97-AF65-F5344CB8AC3E}">
        <p14:creationId xmlns:p14="http://schemas.microsoft.com/office/powerpoint/2010/main" val="438826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8362C-1581-451C-9A92-AE30AE2F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Skalowanie reflektancji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F36-8210-4B7C-98D8-B7CFB69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ρ = DN × skala + offset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6000 × 0.0001 = 0.6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Parametry pochodzą z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395BD-5BBA-48FE-8982-1B59127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07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70D17-D934-4C6C-8DD1-88645956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23–27 min</a:t>
            </a:r>
          </a:p>
        </p:txBody>
      </p:sp>
    </p:spTree>
    <p:extLst>
      <p:ext uri="{BB962C8B-B14F-4D97-AF65-F5344CB8AC3E}">
        <p14:creationId xmlns:p14="http://schemas.microsoft.com/office/powerpoint/2010/main" val="1377517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C26AE-F8DF-460E-B86C-8A586FC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jakości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127B4-A523-4656-89E8-072C50F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 granicy: 1 729 364 pikseli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Ważne: 1 729 266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Woda pozostaje w analizie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c835fc9124590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2EA8-B1A5-4C04-9AAF-E124ACAD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08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9EFDC-B556-440E-A71F-B06A3420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27–32 min</a:t>
            </a:r>
          </a:p>
        </p:txBody>
      </p:sp>
    </p:spTree>
    <p:extLst>
      <p:ext uri="{BB962C8B-B14F-4D97-AF65-F5344CB8AC3E}">
        <p14:creationId xmlns:p14="http://schemas.microsoft.com/office/powerpoint/2010/main" val="7752898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74F96-4BB2-40CC-AD7E-9C6CC751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Zero, wartość ujemna i NoData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1CC7C-C93D-4F0B-9674-3B152F24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 może być poprawną obserwacją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NaN oznacza brak ważnego wyniku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Mianownik bliski zeru wymaga maski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b8c4b98fa4d80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E41BE-8F98-481A-90B7-2F5ED889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09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4FD91-2A3F-49BD-8CB4-0B5D4F4C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32–36 min</a:t>
            </a:r>
          </a:p>
        </p:txBody>
      </p:sp>
    </p:spTree>
    <p:extLst>
      <p:ext uri="{BB962C8B-B14F-4D97-AF65-F5344CB8AC3E}">
        <p14:creationId xmlns:p14="http://schemas.microsoft.com/office/powerpoint/2010/main" val="1952826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1999B-6F24-4CC6-8F91-0968BBC8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RGB jako odniesienie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8DB8B-5408-4687-B392-70644FC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Kanały 4 / 3 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Kontrast 2–98 percentyl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Obraz pomaga interpretować wskaźniki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d5fa3d3a8463c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43DD4-F1E7-4903-8D40-59952652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10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2D10B-9BEB-4CED-8601-1CFCE702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36–40 min</a:t>
            </a:r>
          </a:p>
        </p:txBody>
      </p:sp>
    </p:spTree>
    <p:extLst>
      <p:ext uri="{BB962C8B-B14F-4D97-AF65-F5344CB8AC3E}">
        <p14:creationId xmlns:p14="http://schemas.microsoft.com/office/powerpoint/2010/main" val="678246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69D3A-A3F1-4F23-A788-F793D27C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Znormalizowana różnica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92FF5-EFD6-49EE-825F-CECC6D3D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 = (A − B) / (A + 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0.6, B = 0.2: I = 0.5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= B ≠ 0: I =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7A956-081B-46DD-9CF6-4044FD36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AC00C-1949-4A75-AAE2-31CAB059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40–44 min</a:t>
            </a:r>
          </a:p>
        </p:txBody>
      </p:sp>
    </p:spTree>
    <p:extLst>
      <p:ext uri="{BB962C8B-B14F-4D97-AF65-F5344CB8AC3E}">
        <p14:creationId xmlns:p14="http://schemas.microsoft.com/office/powerpoint/2010/main" val="2061130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277FA-3337-46E6-BF1A-616E2BA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roślinność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0138D-273B-4052-ABF9-D97AEC9A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 = (B5 − B4) / (B5 + B4)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Średnia w obszarze: 0.618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Interpretacja zależy od daty i pokrycia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8c84e7ab04713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66E40-66F0-4FCA-8116-4E2D9FF3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12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6DF68-7976-47D5-B12A-2527E81D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44–48 min</a:t>
            </a:r>
          </a:p>
        </p:txBody>
      </p:sp>
    </p:spTree>
    <p:extLst>
      <p:ext uri="{BB962C8B-B14F-4D97-AF65-F5344CB8AC3E}">
        <p14:creationId xmlns:p14="http://schemas.microsoft.com/office/powerpoint/2010/main" val="11569213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E9972-527D-4820-A547-E7EE8654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zabudowa i gleba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CB7B2-C8BD-459A-9DC3-4200B22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 = (B6 − B5) / (B6 + B5)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Dodatni wynik wymaga sprawdzenia RGB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Próg nie jest gotową klasyfikacją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1bfbec867475c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1309A-2A79-481B-B6B8-3B7022AC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13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20CA3-9ED9-4F4A-8255-96A6C08C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48–52 min</a:t>
            </a:r>
          </a:p>
        </p:txBody>
      </p:sp>
    </p:spTree>
    <p:extLst>
      <p:ext uri="{BB962C8B-B14F-4D97-AF65-F5344CB8AC3E}">
        <p14:creationId xmlns:p14="http://schemas.microsoft.com/office/powerpoint/2010/main" val="10872913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D93DD-FA88-44DA-AAB6-4A1BB36B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wody powierzchniowe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EE47-413C-4359-B300-81B6C230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000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 = (B3 − B6) / (B3 + B6)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Kanał zielony i SWIR1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NDWI McFeetersa używa zielonego i NIR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748f61474f4c"/>
          <a:stretch xmlns:a="http://schemas.openxmlformats.org/drawingml/2006/main"/>
        </p:blipFill>
        <p:spPr>
          <a:xfrm xmlns:a="http://schemas.openxmlformats.org/drawingml/2006/main">
            <a:off x="4819650" y="1395845"/>
            <a:ext cx="6934200" cy="48854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DB18F-E3E0-4CE2-99CC-7CAB1F0A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14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91C06-C2BC-4640-A717-89B7E5E5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52–56 min</a:t>
            </a:r>
          </a:p>
        </p:txBody>
      </p:sp>
    </p:spTree>
    <p:extLst>
      <p:ext uri="{BB962C8B-B14F-4D97-AF65-F5344CB8AC3E}">
        <p14:creationId xmlns:p14="http://schemas.microsoft.com/office/powerpoint/2010/main" val="7788598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1042D-FCDD-4049-B030-D2A4E59D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Statystyki tego samego obszaru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DF7B6-5F32-4287-9C76-04590F03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00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NDVI: 0.6179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NDBI: −0.1905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MNDWI: −0.4896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Wspólna maska: 1 729 266 pikseli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5048250" y="1524000"/>
          <a:ext xmlns:a="http://schemas.openxmlformats.org/drawingml/2006/main" cx="6572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93f3e4ab94410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939E0-4464-49CE-BECA-3C71010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15  / 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115D6-971C-4B00-BCA6-C8E3A00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56–60 min</a:t>
            </a:r>
          </a:p>
        </p:txBody>
      </p:sp>
    </p:spTree>
    <p:extLst>
      <p:ext uri="{BB962C8B-B14F-4D97-AF65-F5344CB8AC3E}">
        <p14:creationId xmlns:p14="http://schemas.microsoft.com/office/powerpoint/2010/main" val="9752406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D72A4-F595-435A-8DDA-5EAF3D3F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Ograniczenia interpretacji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BD80A-D86C-4763-A29F-2A98B36D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Scena przedstawia 2013 rok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Piksele 30 m mogą mieszać różne obiekty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Maska QA nie usuwa każdej niepewności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Wskaźnik nie jest etykietą klasy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5D7D6-2469-4966-8E8A-858BBE3D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16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9911E-03C6-4D20-BADD-C1FCE545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60–63 min</a:t>
            </a:r>
          </a:p>
        </p:txBody>
      </p:sp>
    </p:spTree>
    <p:extLst>
      <p:ext uri="{BB962C8B-B14F-4D97-AF65-F5344CB8AC3E}">
        <p14:creationId xmlns:p14="http://schemas.microsoft.com/office/powerpoint/2010/main" val="1794543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24D17-727A-4DF9-A27B-537C680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GeoTIFF do dalszych obliczeń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3DE4A-E945-4282-8EBC-F8E2C5EE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float32 i NoData = −9999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CRS i transformacja z wejścia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Odczyt kontrolny sprawdza wartości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A7FF9-DC89-4CDB-A3CB-4FB2662A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17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4E736-5D10-4481-B057-E327941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63–66 min</a:t>
            </a:r>
          </a:p>
        </p:txBody>
      </p:sp>
    </p:spTree>
    <p:extLst>
      <p:ext uri="{BB962C8B-B14F-4D97-AF65-F5344CB8AC3E}">
        <p14:creationId xmlns:p14="http://schemas.microsoft.com/office/powerpoint/2010/main" val="10818819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23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FE9ED-B6E8-4D57-B127-FE26749A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Kolor i przezroczystość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36B75-ECD1-4C55-83DC-4D981547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Zakres legendy: −1 do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RGBA: kolor oraz kanał alfa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Brak danych pozostaje przezroczysty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B6B47-CAB3-4AA1-AC48-2CDB7240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18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8E381-0FF8-4D9A-ACE0-431EB493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ADB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ADBDD"/>
                </a:solidFill>
                <a:latin typeface="Arial"/>
                <a:ea typeface="Arial"/>
                <a:cs typeface="Arial"/>
              </a:rPr>
              <a:t>66–69 min</a:t>
            </a:r>
          </a:p>
        </p:txBody>
      </p:sp>
    </p:spTree>
    <p:extLst>
      <p:ext uri="{BB962C8B-B14F-4D97-AF65-F5344CB8AC3E}">
        <p14:creationId xmlns:p14="http://schemas.microsoft.com/office/powerpoint/2010/main" val="2420734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CB0DF-A408-4688-89D2-2261C5C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Kafelki XYZ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34315-108D-45FB-9777-FB7944C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256 × 256 pikseli, EPSG:3857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 / x / y.png, y rośnie na południe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Zoom 9–12: 512 plików dla czterech warstw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4877C-1452-4A52-BF76-27DEBE1E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19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50059-17A6-4926-BBF3-4A5E9D01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69–73 min</a:t>
            </a:r>
          </a:p>
        </p:txBody>
      </p:sp>
    </p:spTree>
    <p:extLst>
      <p:ext uri="{BB962C8B-B14F-4D97-AF65-F5344CB8AC3E}">
        <p14:creationId xmlns:p14="http://schemas.microsoft.com/office/powerpoint/2010/main" val="522724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8EC54-42BB-4F76-A9CD-E03E3967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Kompletna mapa WWW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44236-3438-4C59-A650-3017AEB2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index.html oraz katalogi tiles i vendor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Wybór warstwy, legenda i przezroczystość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Podkład OpenStreetMap wymaga internetu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782FB-2180-4119-8123-DEF8A130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20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565CC-3C69-42E5-9D50-1D2EB3A5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73–76 min</a:t>
            </a:r>
          </a:p>
        </p:txBody>
      </p:sp>
    </p:spTree>
    <p:extLst>
      <p:ext uri="{BB962C8B-B14F-4D97-AF65-F5344CB8AC3E}">
        <p14:creationId xmlns:p14="http://schemas.microsoft.com/office/powerpoint/2010/main" val="1659282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3E442-14F8-464A-8D2B-F2DF8AC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Podgląd lokalny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47DD2-E93C-43A3-8660-F717C1FF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python -m http.server 8000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--bind 127.0.0.1 --directory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http://127.0.0.1:8000/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D0CD7-1C7A-4668-A906-D486E4E9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21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A7FA3-EA61-460E-A2FC-5F83508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76–79 min</a:t>
            </a:r>
          </a:p>
        </p:txBody>
      </p:sp>
    </p:spTree>
    <p:extLst>
      <p:ext uri="{BB962C8B-B14F-4D97-AF65-F5344CB8AC3E}">
        <p14:creationId xmlns:p14="http://schemas.microsoft.com/office/powerpoint/2010/main" val="113023863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F1813-C169-47ED-9B84-65443D4D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SSH i konta AGH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A400C-3DBC-4001-9CA3-EB19B0FE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Student: student.agh.edu.pl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Prowadzący: galaxy.agh.edu.pl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Połączenie z sieci AGH lub przez VPN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0323F-67DC-4163-938E-C0A505C4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22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1794C-584E-4C30-91CE-29063607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79–82 min</a:t>
            </a:r>
          </a:p>
        </p:txBody>
      </p:sp>
    </p:spTree>
    <p:extLst>
      <p:ext uri="{BB962C8B-B14F-4D97-AF65-F5344CB8AC3E}">
        <p14:creationId xmlns:p14="http://schemas.microsoft.com/office/powerpoint/2010/main" val="3130131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F7D8-2D91-4C57-97FB-430DE30C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SCP i sprawdzenie publikacji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9F323-4B25-4240-B42D-2D8F5D8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Osobny katalog public_html/landsat-DATA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Przesyłamy całą zawartość outputs/site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Sprawdzamy URL i wszystkie warstwy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D0FEF-C017-4CA2-A82D-6AAC2C63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23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E442E-2D56-48A1-BBD1-E303ECA5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82–85 min</a:t>
            </a:r>
          </a:p>
        </p:txBody>
      </p:sp>
    </p:spTree>
    <p:extLst>
      <p:ext uri="{BB962C8B-B14F-4D97-AF65-F5344CB8AC3E}">
        <p14:creationId xmlns:p14="http://schemas.microsoft.com/office/powerpoint/2010/main" val="277843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B3FF2-81BF-4567-A420-1F93DA9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Laboratorium: 90 minut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95703-9A27-46E6-A64B-08C6BFC9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0–40 min: dane, CRS i jakość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40–55 min: wskaźniki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55–70 min: mapa lokalna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70–90 min: publikacja i oddanie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C2507-9A7A-41F2-AA3A-1159E28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24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52CC6-962A-49A4-93AE-259B32D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85–88 min</a:t>
            </a:r>
          </a:p>
        </p:txBody>
      </p:sp>
    </p:spTree>
    <p:extLst>
      <p:ext uri="{BB962C8B-B14F-4D97-AF65-F5344CB8AC3E}">
        <p14:creationId xmlns:p14="http://schemas.microsoft.com/office/powerpoint/2010/main" val="15630568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F44BD-A6C4-4BEE-AC72-FB217D3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F4B"/>
                </a:solidFill>
                <a:latin typeface="Arial"/>
                <a:ea typeface="Arial"/>
                <a:cs typeface="Arial"/>
              </a:rPr>
              <a:t>Pytania sprawdzające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926A7-9435-48C9-BB9B-73D547D8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38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Dlaczego 0 nie jest NoData?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dodatni NDBI oznacza budynek?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Co trzeba przesłać oprócz index.html?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00" b="0">
                <a:solidFill>
                  <a:srgbClr val="183F4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83F4B"/>
                </a:solidFill>
                <a:latin typeface="Arial"/>
                <a:ea typeface="Arial"/>
                <a:cs typeface="Arial"/>
              </a:rPr>
              <a:t>Czy zoom 17 dodaje szczegóły?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32634-CF27-4909-9C41-CB1782E6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25  / 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9A2E-563E-468F-A2B4-6BB20130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484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B73"/>
                </a:solidFill>
                <a:latin typeface="Arial"/>
                <a:ea typeface="Arial"/>
                <a:cs typeface="Arial"/>
              </a:rPr>
              <a:t>88–90 min</a:t>
            </a:r>
          </a:p>
        </p:txBody>
      </p:sp>
    </p:spTree>
    <p:extLst>
      <p:ext uri="{BB962C8B-B14F-4D97-AF65-F5344CB8AC3E}">
        <p14:creationId xmlns:p14="http://schemas.microsoft.com/office/powerpoint/2010/main" val="1329423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2026-09-30T16:03:47.9190000Z</dcterms:created>
  <dcterms:modified xsi:type="dcterms:W3CDTF">2026-09-30T16:03:47.9190000Z</dcterms:modified>
</coreProperties>
</file>